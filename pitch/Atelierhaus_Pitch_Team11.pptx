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B2A28"/>
                </a:solidFill>
                <a:latin typeface="Arial"/>
              </a:defRPr>
            </a:pPr>
            <a:r>
              <a:rPr sz="1600" b="0" i="0" u="none" strike="noStrike">
                <a:solidFill>
                  <a:srgbClr val="2B2A28"/>
                </a:solidFill>
                <a:latin typeface="Arial"/>
              </a:rPr>
              <a:t>Umsatz &amp; EBIT in Mio €, Szenario realistisch</a:t>
            </a:r>
          </a:p>
        </c:rich>
      </c:tx>
      <c:layout/>
      <c:overlay val="0"/>
    </c:title>
    <c:autoTitleDeleted val="0"/>
    <c:plotArea>
      <c:layout/>
      <c:barChart>
        <c:barDir val="col"/>
        <c:grouping val="clustered"/>
        <c:varyColors val="0"/>
        <c:ser>
          <c:idx val="0"/>
          <c:order val="0"/>
          <c:tx>
            <c:strRef>
              <c:f>Sheet1!$B$1</c:f>
              <c:strCache>
                <c:ptCount val="1"/>
                <c:pt idx="0">
                  <c:v>Umsatz</c:v>
                </c:pt>
              </c:strCache>
            </c:strRef>
          </c:tx>
          <c:spPr>
            <a:solidFill>
              <a:srgbClr val="2C6041"/>
            </a:solidFill>
            <a:effectLst/>
          </c:spPr>
          <c:invertIfNegative val="0"/>
          <c:dLbls>
            <c:numFmt formatCode="0.00" sourceLinked="0"/>
            <c:txPr>
              <a:bodyPr/>
              <a:lstStyle/>
              <a:p>
                <a:pPr>
                  <a:defRPr b="0" i="0" strike="noStrike" sz="1200" u="none">
                    <a:solidFill>
                      <a:srgbClr val="2B2A28"/>
                    </a:solidFill>
                    <a:latin typeface="Arial"/>
                  </a:defRPr>
                </a:pPr>
              </a:p>
            </c:txPr>
            <c:showLegendKey val="0"/>
            <c:showVal val="1"/>
            <c:showCatName val="0"/>
            <c:showSerName val="0"/>
            <c:showPercent val="0"/>
            <c:showBubbleSize val="0"/>
            <c:showLeaderLines val="0"/>
          </c:dLbls>
          <c:cat>
            <c:multiLvlStrRef>
              <c:f>Sheet1!$A$2:$A$6</c:f>
              <c:multiLvlStrCache>
                <c:ptCount val="5"/>
                <c:lvl>
                  <c:pt idx="0">
                    <c:v>Jahr 1</c:v>
                  </c:pt>
                  <c:pt idx="1">
                    <c:v>Jahr 2</c:v>
                  </c:pt>
                  <c:pt idx="2">
                    <c:v>Jahr 3</c:v>
                  </c:pt>
                  <c:pt idx="3">
                    <c:v>Jahr 4</c:v>
                  </c:pt>
                  <c:pt idx="4">
                    <c:v>Jahr 5</c:v>
                  </c:pt>
                </c:lvl>
              </c:multiLvlStrCache>
            </c:multiLvlStrRef>
          </c:cat>
          <c:val>
            <c:numRef>
              <c:f>Sheet1!$B$2:$B$6</c:f>
              <c:numCache>
                <c:formatCode>General</c:formatCode>
                <c:ptCount val="5"/>
                <c:pt idx="0">
                  <c:v>1.672378</c:v>
                </c:pt>
                <c:pt idx="1">
                  <c:v>2.563846</c:v>
                </c:pt>
                <c:pt idx="2">
                  <c:v>3.422319</c:v>
                </c:pt>
                <c:pt idx="3">
                  <c:v>3.884848</c:v>
                </c:pt>
                <c:pt idx="4">
                  <c:v>3.981969</c:v>
                </c:pt>
              </c:numCache>
            </c:numRef>
          </c:val>
        </c:ser>
        <c:ser>
          <c:idx val="1"/>
          <c:order val="1"/>
          <c:tx>
            <c:strRef>
              <c:f>Sheet1!$C$1</c:f>
              <c:strCache>
                <c:ptCount val="1"/>
                <c:pt idx="0">
                  <c:v>EBIT</c:v>
                </c:pt>
              </c:strCache>
            </c:strRef>
          </c:tx>
          <c:spPr>
            <a:solidFill>
              <a:srgbClr val="E2703A"/>
            </a:solidFill>
            <a:effectLst/>
          </c:spPr>
          <c:invertIfNegative val="0"/>
          <c:dLbls>
            <c:numFmt formatCode="0.00" sourceLinked="0"/>
            <c:txPr>
              <a:bodyPr/>
              <a:lstStyle/>
              <a:p>
                <a:pPr>
                  <a:defRPr b="0" i="0" strike="noStrike" sz="1200" u="none">
                    <a:solidFill>
                      <a:srgbClr val="2B2A28"/>
                    </a:solidFill>
                    <a:latin typeface="Arial"/>
                  </a:defRPr>
                </a:pPr>
              </a:p>
            </c:txPr>
            <c:showLegendKey val="0"/>
            <c:showVal val="1"/>
            <c:showCatName val="0"/>
            <c:showSerName val="0"/>
            <c:showPercent val="0"/>
            <c:showBubbleSize val="0"/>
            <c:showLeaderLines val="0"/>
          </c:dLbls>
          <c:cat>
            <c:multiLvlStrRef>
              <c:f>Sheet1!$A$2:$A$6</c:f>
              <c:multiLvlStrCache>
                <c:ptCount val="5"/>
                <c:lvl>
                  <c:pt idx="0">
                    <c:v>Jahr 1</c:v>
                  </c:pt>
                  <c:pt idx="1">
                    <c:v>Jahr 2</c:v>
                  </c:pt>
                  <c:pt idx="2">
                    <c:v>Jahr 3</c:v>
                  </c:pt>
                  <c:pt idx="3">
                    <c:v>Jahr 4</c:v>
                  </c:pt>
                  <c:pt idx="4">
                    <c:v>Jahr 5</c:v>
                  </c:pt>
                </c:lvl>
              </c:multiLvlStrCache>
            </c:multiLvlStrRef>
          </c:cat>
          <c:val>
            <c:numRef>
              <c:f>Sheet1!$C$2:$C$6</c:f>
              <c:numCache>
                <c:formatCode>General</c:formatCode>
                <c:ptCount val="5"/>
                <c:pt idx="0">
                  <c:v>-0.147396</c:v>
                </c:pt>
                <c:pt idx="1">
                  <c:v>0.434708</c:v>
                </c:pt>
                <c:pt idx="2">
                  <c:v>0.988306</c:v>
                </c:pt>
                <c:pt idx="3">
                  <c:v>1.315897</c:v>
                </c:pt>
                <c:pt idx="4">
                  <c:v>1.350579</c:v>
                </c:pt>
              </c:numCache>
            </c:numRef>
          </c:val>
        </c:ser>
        <c:dLbls>
          <c:numFmt formatCode="0.00" sourceLinked="0"/>
          <c:txPr>
            <a:bodyPr/>
            <a:lstStyle/>
            <a:p>
              <a:pPr>
                <a:defRPr b="0" i="0" strike="noStrike" sz="1200" u="none">
                  <a:solidFill>
                    <a:srgbClr val="2B2A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B2A28"/>
                </a:solidFill>
                <a:latin typeface="Arial"/>
              </a:defRPr>
            </a:pPr>
            <a:endParaRPr lang="en-US"/>
          </a:p>
        </c:txPr>
        <c:crossAx val="2094734552"/>
        <c:crosses val="autoZero"/>
        <c:auto val="1"/>
        <c:lblAlgn val="ctr"/>
        <c:noMultiLvlLbl val="1"/>
      </c:catAx>
      <c:valAx>
        <c:axId val="2094734552"/>
        <c:scaling>
          <c:orientation val="minMax"/>
          <c:max val="4.5"/>
          <c:min val="-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2B2A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sind Team 11 – und das ist Atelierhaus: ein Haus voller Ideen. Kreativkurse, Kochen, Bewegung und Markenerlebnisse unter einem Dach – 1.500 Quadratmeter in München, fünf Räume, elf Kursarten.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Kennt ihr das? Feierabend, man will etwas Kreatives machen – aber das Angebot ist zersplittert: Töpferstudio hier, VHS dort, Verein woanders. Neun von dreizehn Befragten nennen genau das als Problem, vier sagen: keine Zeit. Also geht man wieder bowlen oder shoppen – oder bleibt allein zuhause mit Diamond Painting. Eine Auszubildende hat es auf den Punkt gebracht: Im Winter gibt es keine Aktivitäten.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18 Interviews geführt, 13 davon ausführlich dokumentiert. Zwölf von dreizehn bestätigen das Problem, der Leidensdruck liegt im Schnitt bei 3,7 von 5. Zwei Kundengruppen: die Feierabend-Kreativen zwischen 20 und 35 – oft ohne jemanden fürs gemeinsame Hobby. Und Teamevent-Entscheider wie HR oder Kita-Leitungen. Überrascht hat uns: Allein hinzugehen ist eine Hürde – deshalb setzen wir auf Gruppenformate. Und: Ohne Abwechslung käme man nur einmal. Zahlen würden die meisten 20 bis 50 Euro pro Kurs.
[Hinweis, nicht vorlesen: Interviews fanden in Pforzheim statt (u. a. Fußgängerzone), Standort ist München. Interesse auch bei Jüngeren und Älteren, nicht nur 30–50. Weiteres Zitat: „Sehr cool – wie ein Jugendtraum.“]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Lösung: alles unter einem Dach – online in vier Schritten gebucht: anmelden, Kurs wählen, Termin buchen, hingehen. Unser klickbarer Prototyp hat 18 Kurse in 11 Kursarten, Firmenbuchungen für 4 bis 30 Personen und einen Partner-Bereich für spätere Franchise-Betreiber. In drei Nutzertests würden alle drei es nutzen. Ein Personaler hat ohne Hilfe fürs Team gebucht – sein Feedback: schnell und selbsterklärend. Und wir haben gelernt: Unser Credit-System hat verwirrt, deshalb zahlt man jetzt direkt.
[Hinweis, nicht vorlesen: Die Marken auf der Website (Mercedes-Benz, RIMOWA, lululemon, Faber-Castell, Hilti, dm, rhode, Haus Labs) sind geplante Markenformate/Wunschpartner, keine unterschriebenen Kooperationen. Wunsch aus Test 1: Info, was mitgebracht werden soll.]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groß ist der Markt? München hat gut eine Million Erwachsene zwischen 20 und 64. Wir nehmen an, dass 30 Prozent kreativ aktiv sind und 80 Euro im Jahr dafür ausgeben – das sind 25,5 Millionen Euro. 60 Prozent davon sind offen für ein Angebot wie unseres: 15,3 Millionen. Realistisch erreichen wir 21.000 Kundinnen und Kunden – mit Firmenevents 1,79 Millionen Euro netto.
[Hinweis, nicht vorlesen: Amtlich belegt sind nur Einwohnerzahl und Altersanteil. 30 % ist konservativ gegenüber Eurostat 34,5 %. 60 % offen = Annahme aus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verdienen an Kurstickets – ein Kreativkurs kostet im Schnitt rund 62 Euro –, an Firmen-Teamevents für 8.000 Euro, an Markenformaten, Leuchtturm-Events und an der Untervermietung an die Gastro. Jede Person im Kreativkurs bringt 39 Euro Deckungsbeitrag. Bei rund 80.000 Euro Fixkosten im Monat brauchen wir 5,3 Personen pro Kurs, also 27 Prozent Auslastung – geplant sind 11. Im ersten Jahr machen wir 1,7 Millionen Umsatz und noch leicht Verlust, ab Jahr zwei sind wir profitabel, und in Jahr drei hat sich die Investition amortisiert.
[Hinweis, nicht vorlesen: Fixkosten 963.695 € p. a.; größter Block Gründergehälter 5 × 5.000 €. Ziel Auslastung ≤ 12 Personen / 60 %. Markenbeiträge im Plan bewusst mit 0 € angesetzt.]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die Konkurrenz? Es gibt Studios wie Paint your Style, Marktplätze wie gokonfetti, Teamevent-Agenturen, Kochschulen und die VHS – und natürlich: zuhause bleiben oder immer das Gleiche machen. Jeder löst ein Stück. Wir bündeln alles an einem Ort: wechselndes Programm, Markenformate und Firmenevents – direkt buchbar.
[Hinweis, nicht vorlesen: Paint your Style ist ein Franchise mit über 20 Standorten (mehrere in München) – Beleg, dass Franchise in der Kreativnische funktioniert. gokonfetti: über 10.000 Kurse und Teamevents in DE/AT. hirschfeld.de ist ein Portal für Teamevents/Agenturen.]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Atelierhaus wirkt über den Kurs hinaus: Rund 552.000 Euro Honorare im Jahr gehen an Künstlerinnen und Kursleitungen aus der Region, dazu 47 Community-Events – und Upcycling statt Neukauf.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sind wir: [Name A], Finanzen, [Name B], Marke, [Name C], Programm, und [Name D], Operations. In vier Tagen: 18 Interviews, 3 Nutzertests, ein Prototyp und ein Fünf-Jahres-Finanzplan.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Nächstes testen wir unsere drei riskantesten Annahmen in München. Zahlen Leute 50 bis 80 Euro? Ja heißt: 50 Vorbestellungen in vier Wochen. Buchen Firmen Teamevents für 8.000 Euro? Ja heißt: drei Absichtserklärungen. Und machen Marken mit? Ja heißt: ein Letter of Intent. Dafür suchen wir 1,17 Millionen Euro Startkapital – und Kontakte zu Marken und Gewerbeimmobilien in München. Denn: Dein nächster freier Abend gehört dem Atelierhaus.
[Hinweis, nicht vorlesen: Optional als Auslastungstest – Pop-up-Wochenende in München mit 3 Formaten.]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4B33"/>
        </a:solidFill>
      </p:bgPr>
    </p:bg>
    <p:spTree>
      <p:nvGrpSpPr>
        <p:cNvPr id="1" name=""/>
        <p:cNvGrpSpPr/>
        <p:nvPr/>
      </p:nvGrpSpPr>
      <p:grpSpPr>
        <a:xfrm>
          <a:off x="0" y="0"/>
          <a:ext cx="0" cy="0"/>
          <a:chOff x="0" y="0"/>
          <a:chExt cx="0" cy="0"/>
        </a:xfrm>
      </p:grpSpPr>
      <p:pic>
        <p:nvPicPr>
          <p:cNvPr id="2" name="Image 0" descr="Atelierhaus Wortmarke">    </p:cNvPr>
          <p:cNvPicPr>
            <a:picLocks noChangeAspect="1"/>
          </p:cNvPicPr>
          <p:nvPr/>
        </p:nvPicPr>
        <p:blipFill>
          <a:blip r:embed="rId1"/>
          <a:stretch>
            <a:fillRect/>
          </a:stretch>
        </p:blipFill>
        <p:spPr>
          <a:xfrm>
            <a:off x="548640" y="685800"/>
            <a:ext cx="3291840" cy="351442"/>
          </a:xfrm>
          <a:prstGeom prst="rect">
            <a:avLst/>
          </a:prstGeom>
        </p:spPr>
      </p:pic>
      <p:sp>
        <p:nvSpPr>
          <p:cNvPr id="3" name="Text 0"/>
          <p:cNvSpPr txBox="1"/>
          <p:nvPr/>
        </p:nvSpPr>
        <p:spPr>
          <a:xfrm>
            <a:off x="548640" y="1234440"/>
            <a:ext cx="5120640" cy="164592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Ein Haus voller Ideen.</a:t>
            </a:r>
            <a:endParaRPr lang="en-US" sz="4800" dirty="0"/>
          </a:p>
        </p:txBody>
      </p:sp>
      <p:sp>
        <p:nvSpPr>
          <p:cNvPr id="4" name="Text 1"/>
          <p:cNvSpPr txBox="1"/>
          <p:nvPr/>
        </p:nvSpPr>
        <p:spPr>
          <a:xfrm>
            <a:off x="548640" y="2926080"/>
            <a:ext cx="4937760" cy="1005840"/>
          </a:xfrm>
          <a:prstGeom prst="rect">
            <a:avLst/>
          </a:prstGeom>
          <a:noFill/>
          <a:ln/>
        </p:spPr>
        <p:txBody>
          <a:bodyPr wrap="square" lIns="0" tIns="0" rIns="0" bIns="0" rtlCol="0" anchor="t"/>
          <a:lstStyle/>
          <a:p>
            <a:pPr indent="0" marL="0">
              <a:buNone/>
            </a:pPr>
            <a:r>
              <a:rPr lang="en-US" sz="2000" dirty="0">
                <a:solidFill>
                  <a:srgbClr val="E6EFE9"/>
                </a:solidFill>
                <a:latin typeface="Arial" pitchFamily="34" charset="0"/>
                <a:ea typeface="Arial" pitchFamily="34" charset="-122"/>
                <a:cs typeface="Arial" pitchFamily="34" charset="-120"/>
              </a:rPr>
              <a:t>Kreativkurse, Kochen, Bewegung und Markenerlebnisse unter einem Dach – in einer Halle in München.</a:t>
            </a:r>
            <a:endParaRPr lang="en-US" sz="2000" dirty="0"/>
          </a:p>
        </p:txBody>
      </p:sp>
      <p:sp>
        <p:nvSpPr>
          <p:cNvPr id="5" name="Text 2"/>
          <p:cNvSpPr txBox="1"/>
          <p:nvPr/>
        </p:nvSpPr>
        <p:spPr>
          <a:xfrm>
            <a:off x="548640" y="4160520"/>
            <a:ext cx="1737360" cy="685800"/>
          </a:xfrm>
          <a:prstGeom prst="rect">
            <a:avLst/>
          </a:prstGeom>
          <a:noFill/>
          <a:ln/>
        </p:spPr>
        <p:txBody>
          <a:bodyPr wrap="square" lIns="0" tIns="0" rIns="0" bIns="0" rtlCol="0" anchor="b"/>
          <a:lstStyle/>
          <a:p>
            <a:pPr indent="0" marL="0">
              <a:buNone/>
            </a:pPr>
            <a:r>
              <a:rPr lang="en-US" sz="4800" b="1" dirty="0">
                <a:solidFill>
                  <a:srgbClr val="9FD1B0"/>
                </a:solidFill>
                <a:latin typeface="Arial" pitchFamily="34" charset="0"/>
                <a:ea typeface="Arial" pitchFamily="34" charset="-122"/>
                <a:cs typeface="Arial" pitchFamily="34" charset="-120"/>
              </a:rPr>
              <a:t>1.500</a:t>
            </a:r>
            <a:endParaRPr lang="en-US" sz="4800" dirty="0"/>
          </a:p>
        </p:txBody>
      </p:sp>
      <p:sp>
        <p:nvSpPr>
          <p:cNvPr id="6" name="Text 3"/>
          <p:cNvSpPr txBox="1"/>
          <p:nvPr/>
        </p:nvSpPr>
        <p:spPr>
          <a:xfrm>
            <a:off x="548640" y="4892040"/>
            <a:ext cx="1737360" cy="5486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m² Halle</a:t>
            </a:r>
            <a:endParaRPr lang="en-US" sz="1600" dirty="0"/>
          </a:p>
        </p:txBody>
      </p:sp>
      <p:sp>
        <p:nvSpPr>
          <p:cNvPr id="7" name="Text 4"/>
          <p:cNvSpPr txBox="1"/>
          <p:nvPr/>
        </p:nvSpPr>
        <p:spPr>
          <a:xfrm>
            <a:off x="2606040" y="4160520"/>
            <a:ext cx="1463040" cy="685800"/>
          </a:xfrm>
          <a:prstGeom prst="rect">
            <a:avLst/>
          </a:prstGeom>
          <a:noFill/>
          <a:ln/>
        </p:spPr>
        <p:txBody>
          <a:bodyPr wrap="square" lIns="0" tIns="0" rIns="0" bIns="0" rtlCol="0" anchor="b"/>
          <a:lstStyle/>
          <a:p>
            <a:pPr indent="0" marL="0">
              <a:buNone/>
            </a:pPr>
            <a:r>
              <a:rPr lang="en-US" sz="4800" b="1" dirty="0">
                <a:solidFill>
                  <a:srgbClr val="9FD1B0"/>
                </a:solidFill>
                <a:latin typeface="Arial" pitchFamily="34" charset="0"/>
                <a:ea typeface="Arial" pitchFamily="34" charset="-122"/>
                <a:cs typeface="Arial" pitchFamily="34" charset="-120"/>
              </a:rPr>
              <a:t>5</a:t>
            </a:r>
            <a:endParaRPr lang="en-US" sz="4800" dirty="0"/>
          </a:p>
        </p:txBody>
      </p:sp>
      <p:sp>
        <p:nvSpPr>
          <p:cNvPr id="8" name="Text 5"/>
          <p:cNvSpPr txBox="1"/>
          <p:nvPr/>
        </p:nvSpPr>
        <p:spPr>
          <a:xfrm>
            <a:off x="2606040" y="4892040"/>
            <a:ext cx="1463040" cy="5486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Räume</a:t>
            </a:r>
            <a:endParaRPr lang="en-US" sz="1600" dirty="0"/>
          </a:p>
        </p:txBody>
      </p:sp>
      <p:sp>
        <p:nvSpPr>
          <p:cNvPr id="9" name="Text 6"/>
          <p:cNvSpPr txBox="1"/>
          <p:nvPr/>
        </p:nvSpPr>
        <p:spPr>
          <a:xfrm>
            <a:off x="3886200" y="4160520"/>
            <a:ext cx="1828800" cy="685800"/>
          </a:xfrm>
          <a:prstGeom prst="rect">
            <a:avLst/>
          </a:prstGeom>
          <a:noFill/>
          <a:ln/>
        </p:spPr>
        <p:txBody>
          <a:bodyPr wrap="square" lIns="0" tIns="0" rIns="0" bIns="0" rtlCol="0" anchor="b"/>
          <a:lstStyle/>
          <a:p>
            <a:pPr indent="0" marL="0">
              <a:buNone/>
            </a:pPr>
            <a:r>
              <a:rPr lang="en-US" sz="4800" b="1" dirty="0">
                <a:solidFill>
                  <a:srgbClr val="9FD1B0"/>
                </a:solidFill>
                <a:latin typeface="Arial" pitchFamily="34" charset="0"/>
                <a:ea typeface="Arial" pitchFamily="34" charset="-122"/>
                <a:cs typeface="Arial" pitchFamily="34" charset="-120"/>
              </a:rPr>
              <a:t>11</a:t>
            </a:r>
            <a:endParaRPr lang="en-US" sz="4800" dirty="0"/>
          </a:p>
        </p:txBody>
      </p:sp>
      <p:sp>
        <p:nvSpPr>
          <p:cNvPr id="10" name="Text 7"/>
          <p:cNvSpPr txBox="1"/>
          <p:nvPr/>
        </p:nvSpPr>
        <p:spPr>
          <a:xfrm>
            <a:off x="3886200" y="4892040"/>
            <a:ext cx="1828800" cy="5486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Kursarten</a:t>
            </a:r>
            <a:endParaRPr lang="en-US" sz="1600" dirty="0"/>
          </a:p>
        </p:txBody>
      </p:sp>
      <p:sp>
        <p:nvSpPr>
          <p:cNvPr id="11" name="Text 8"/>
          <p:cNvSpPr txBox="1"/>
          <p:nvPr/>
        </p:nvSpPr>
        <p:spPr>
          <a:xfrm>
            <a:off x="548640" y="5349240"/>
            <a:ext cx="5120640" cy="320040"/>
          </a:xfrm>
          <a:prstGeom prst="rect">
            <a:avLst/>
          </a:prstGeom>
          <a:noFill/>
          <a:ln/>
        </p:spPr>
        <p:txBody>
          <a:bodyPr wrap="square" lIns="0" tIns="0" rIns="0" bIns="0" rtlCol="0" anchor="t"/>
          <a:lstStyle/>
          <a:p>
            <a:pPr indent="0" marL="0">
              <a:buNone/>
            </a:pPr>
            <a:r>
              <a:rPr lang="en-US" sz="1600" dirty="0">
                <a:solidFill>
                  <a:srgbClr val="E6EFE9"/>
                </a:solidFill>
                <a:latin typeface="Arial" pitchFamily="34" charset="0"/>
                <a:ea typeface="Arial" pitchFamily="34" charset="-122"/>
                <a:cs typeface="Arial" pitchFamily="34" charset="-120"/>
              </a:rPr>
              <a:t>3 Kreativstudios · Showküche · Bewegungsstudio</a:t>
            </a:r>
            <a:endParaRPr lang="en-US" sz="1600" dirty="0"/>
          </a:p>
        </p:txBody>
      </p:sp>
      <p:sp>
        <p:nvSpPr>
          <p:cNvPr id="12" name="Shape 9"/>
          <p:cNvSpPr/>
          <p:nvPr/>
        </p:nvSpPr>
        <p:spPr>
          <a:xfrm>
            <a:off x="5989320" y="1783080"/>
            <a:ext cx="5650992" cy="3070372"/>
          </a:xfrm>
          <a:prstGeom prst="roundRect">
            <a:avLst>
              <a:gd name="adj" fmla="val 3574"/>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pic>
        <p:nvPicPr>
          <p:cNvPr id="13" name="Image 1" descr="Screenshot Startseite: Ein Haus voller Ideen.">    </p:cNvPr>
          <p:cNvPicPr>
            <a:picLocks noChangeAspect="1"/>
          </p:cNvPicPr>
          <p:nvPr/>
        </p:nvPicPr>
        <p:blipFill>
          <a:blip r:embed="rId2"/>
          <a:stretch>
            <a:fillRect/>
          </a:stretch>
        </p:blipFill>
        <p:spPr>
          <a:xfrm>
            <a:off x="5989320" y="1783080"/>
            <a:ext cx="5650992" cy="3070372"/>
          </a:xfrm>
          <a:prstGeom prst="rect">
            <a:avLst/>
          </a:prstGeom>
        </p:spPr>
      </p:pic>
      <p:sp>
        <p:nvSpPr>
          <p:cNvPr id="14" name="Text 10"/>
          <p:cNvSpPr txBox="1"/>
          <p:nvPr/>
        </p:nvSpPr>
        <p:spPr>
          <a:xfrm>
            <a:off x="5989320" y="4983480"/>
            <a:ext cx="5650992" cy="274320"/>
          </a:xfrm>
          <a:prstGeom prst="rect">
            <a:avLst/>
          </a:prstGeom>
          <a:noFill/>
          <a:ln/>
        </p:spPr>
        <p:txBody>
          <a:bodyPr wrap="square" lIns="0" tIns="0" rIns="0" bIns="0" rtlCol="0" anchor="t"/>
          <a:lstStyle/>
          <a:p>
            <a:pPr algn="r" indent="0" marL="0">
              <a:buNone/>
            </a:pPr>
            <a:r>
              <a:rPr lang="en-US" sz="1400" dirty="0">
                <a:solidFill>
                  <a:srgbClr val="9FD1B0"/>
                </a:solidFill>
                <a:latin typeface="Arial" pitchFamily="34" charset="0"/>
                <a:ea typeface="Arial" pitchFamily="34" charset="-122"/>
                <a:cs typeface="Arial" pitchFamily="34" charset="-120"/>
              </a:rPr>
              <a:t>Prototyp: Startseite</a:t>
            </a:r>
            <a:endParaRPr lang="en-US" sz="1400" dirty="0"/>
          </a:p>
        </p:txBody>
      </p:sp>
      <p:sp>
        <p:nvSpPr>
          <p:cNvPr id="15" name="Text 11"/>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9FD1B0"/>
                </a:solidFill>
                <a:latin typeface="Arial" pitchFamily="34" charset="0"/>
                <a:ea typeface="Arial" pitchFamily="34" charset="-122"/>
                <a:cs typeface="Arial" pitchFamily="34" charset="-120"/>
              </a:rPr>
              <a:t>[Name A] · Folie 1/10 · 0:15 (0:00–0:15)</a:t>
            </a:r>
            <a:endParaRPr lang="en-US" sz="1100" dirty="0"/>
          </a:p>
        </p:txBody>
      </p:sp>
      <p:sp>
        <p:nvSpPr>
          <p:cNvPr id="16" name="Text 12"/>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9FD1B0"/>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109728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Kreative Freizeit ist zersplittert – also machen Erwachsene immer das Gleiche oder bleiben zuhause.</a:t>
            </a:r>
            <a:endParaRPr lang="en-US" sz="3200" dirty="0"/>
          </a:p>
        </p:txBody>
      </p:sp>
      <p:sp>
        <p:nvSpPr>
          <p:cNvPr id="3" name="Text 1"/>
          <p:cNvSpPr txBox="1"/>
          <p:nvPr/>
        </p:nvSpPr>
        <p:spPr>
          <a:xfrm>
            <a:off x="548640" y="1828800"/>
            <a:ext cx="4206240" cy="914400"/>
          </a:xfrm>
          <a:prstGeom prst="rect">
            <a:avLst/>
          </a:prstGeom>
          <a:noFill/>
          <a:ln/>
        </p:spPr>
        <p:txBody>
          <a:bodyPr wrap="square" lIns="0" tIns="0" rIns="0" bIns="0" rtlCol="0" anchor="b"/>
          <a:lstStyle/>
          <a:p>
            <a:pPr indent="0" marL="0">
              <a:buNone/>
            </a:pPr>
            <a:r>
              <a:rPr lang="en-US" sz="6600" b="1" dirty="0">
                <a:solidFill>
                  <a:srgbClr val="2C6041"/>
                </a:solidFill>
                <a:latin typeface="Arial" pitchFamily="34" charset="0"/>
                <a:ea typeface="Arial" pitchFamily="34" charset="-122"/>
                <a:cs typeface="Arial" pitchFamily="34" charset="-120"/>
              </a:rPr>
              <a:t>9 von 13</a:t>
            </a:r>
            <a:endParaRPr lang="en-US" sz="6600" dirty="0"/>
          </a:p>
        </p:txBody>
      </p:sp>
      <p:sp>
        <p:nvSpPr>
          <p:cNvPr id="4" name="Text 2"/>
          <p:cNvSpPr txBox="1"/>
          <p:nvPr/>
        </p:nvSpPr>
        <p:spPr>
          <a:xfrm>
            <a:off x="548640" y="2788920"/>
            <a:ext cx="4206240" cy="5943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nennen fehlendes oder verstreutes Angebot als Problem</a:t>
            </a:r>
            <a:endParaRPr lang="en-US" sz="1600" dirty="0"/>
          </a:p>
        </p:txBody>
      </p:sp>
      <p:sp>
        <p:nvSpPr>
          <p:cNvPr id="5" name="Text 3"/>
          <p:cNvSpPr txBox="1"/>
          <p:nvPr/>
        </p:nvSpPr>
        <p:spPr>
          <a:xfrm>
            <a:off x="548640" y="3520440"/>
            <a:ext cx="4206240"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4 von 13</a:t>
            </a:r>
            <a:endParaRPr lang="en-US" sz="4800" dirty="0"/>
          </a:p>
        </p:txBody>
      </p:sp>
      <p:sp>
        <p:nvSpPr>
          <p:cNvPr id="6" name="Text 4"/>
          <p:cNvSpPr txBox="1"/>
          <p:nvPr/>
        </p:nvSpPr>
        <p:spPr>
          <a:xfrm>
            <a:off x="548640" y="4297680"/>
            <a:ext cx="4206240" cy="3657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sagen: keine Zeit, anstrengender Alltag</a:t>
            </a:r>
            <a:endParaRPr lang="en-US" sz="1600" dirty="0"/>
          </a:p>
        </p:txBody>
      </p:sp>
      <p:sp>
        <p:nvSpPr>
          <p:cNvPr id="7" name="Text 5"/>
          <p:cNvSpPr txBox="1"/>
          <p:nvPr/>
        </p:nvSpPr>
        <p:spPr>
          <a:xfrm>
            <a:off x="548640" y="4800600"/>
            <a:ext cx="4206240" cy="274320"/>
          </a:xfrm>
          <a:prstGeom prst="rect">
            <a:avLst/>
          </a:prstGeom>
          <a:noFill/>
          <a:ln/>
        </p:spPr>
        <p:txBody>
          <a:bodyPr wrap="square" lIns="0" tIns="0" rIns="0" bIns="0" rtlCol="0" anchor="t"/>
          <a:lstStyle/>
          <a:p>
            <a:pPr indent="0" marL="0">
              <a:buNone/>
            </a:pPr>
            <a:r>
              <a:rPr lang="en-US" sz="1400" dirty="0">
                <a:solidFill>
                  <a:srgbClr val="5F5A52"/>
                </a:solidFill>
                <a:latin typeface="Arial" pitchFamily="34" charset="0"/>
                <a:ea typeface="Arial" pitchFamily="34" charset="-122"/>
                <a:cs typeface="Arial" pitchFamily="34" charset="-120"/>
              </a:rPr>
              <a:t>Basis: 13 dokumentierte Interviews</a:t>
            </a:r>
            <a:endParaRPr lang="en-US" sz="1400" dirty="0"/>
          </a:p>
        </p:txBody>
      </p:sp>
      <p:sp>
        <p:nvSpPr>
          <p:cNvPr id="8" name="Shape 6"/>
          <p:cNvSpPr/>
          <p:nvPr/>
        </p:nvSpPr>
        <p:spPr>
          <a:xfrm>
            <a:off x="5257800" y="1874520"/>
            <a:ext cx="6382512" cy="2148840"/>
          </a:xfrm>
          <a:prstGeom prst="roundRect">
            <a:avLst>
              <a:gd name="adj" fmla="val 6383"/>
            </a:avLst>
          </a:prstGeom>
          <a:solidFill>
            <a:srgbClr val="224B33"/>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9" name="Text 7"/>
          <p:cNvSpPr txBox="1"/>
          <p:nvPr/>
        </p:nvSpPr>
        <p:spPr>
          <a:xfrm>
            <a:off x="5532120" y="1920240"/>
            <a:ext cx="731520" cy="548640"/>
          </a:xfrm>
          <a:prstGeom prst="rect">
            <a:avLst/>
          </a:prstGeom>
          <a:noFill/>
          <a:ln/>
        </p:spPr>
        <p:txBody>
          <a:bodyPr wrap="square" lIns="0" tIns="0" rIns="0" bIns="0" rtlCol="0" anchor="t"/>
          <a:lstStyle/>
          <a:p>
            <a:pPr indent="0" marL="0">
              <a:buNone/>
            </a:pPr>
            <a:r>
              <a:rPr lang="en-US" sz="6000" b="1" dirty="0">
                <a:solidFill>
                  <a:srgbClr val="9FD1B0"/>
                </a:solidFill>
                <a:latin typeface="Arial" pitchFamily="34" charset="0"/>
                <a:ea typeface="Arial" pitchFamily="34" charset="-122"/>
                <a:cs typeface="Arial" pitchFamily="34" charset="-120"/>
              </a:rPr>
              <a:t>“</a:t>
            </a:r>
            <a:endParaRPr lang="en-US" sz="6000" dirty="0"/>
          </a:p>
        </p:txBody>
      </p:sp>
      <p:sp>
        <p:nvSpPr>
          <p:cNvPr id="10" name="Text 8"/>
          <p:cNvSpPr txBox="1"/>
          <p:nvPr/>
        </p:nvSpPr>
        <p:spPr>
          <a:xfrm>
            <a:off x="5577840" y="2468880"/>
            <a:ext cx="5760720" cy="91440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Im Winter gibt es keine Aktivitäten.</a:t>
            </a:r>
            <a:endParaRPr lang="en-US" sz="3200" dirty="0"/>
          </a:p>
        </p:txBody>
      </p:sp>
      <p:sp>
        <p:nvSpPr>
          <p:cNvPr id="11" name="Text 9"/>
          <p:cNvSpPr txBox="1"/>
          <p:nvPr/>
        </p:nvSpPr>
        <p:spPr>
          <a:xfrm>
            <a:off x="5577840" y="3493008"/>
            <a:ext cx="5760720" cy="320040"/>
          </a:xfrm>
          <a:prstGeom prst="rect">
            <a:avLst/>
          </a:prstGeom>
          <a:noFill/>
          <a:ln/>
        </p:spPr>
        <p:txBody>
          <a:bodyPr wrap="square" lIns="0" tIns="0" rIns="0" bIns="0" rtlCol="0" anchor="t"/>
          <a:lstStyle/>
          <a:p>
            <a:pPr indent="0" marL="0">
              <a:buNone/>
            </a:pPr>
            <a:r>
              <a:rPr lang="en-US" sz="1600" dirty="0">
                <a:solidFill>
                  <a:srgbClr val="9FD1B0"/>
                </a:solidFill>
                <a:latin typeface="Arial" pitchFamily="34" charset="0"/>
                <a:ea typeface="Arial" pitchFamily="34" charset="-122"/>
                <a:cs typeface="Arial" pitchFamily="34" charset="-120"/>
              </a:rPr>
              <a:t>– Auszubildende, Interview</a:t>
            </a:r>
            <a:endParaRPr lang="en-US" sz="1600" dirty="0"/>
          </a:p>
        </p:txBody>
      </p:sp>
      <p:sp>
        <p:nvSpPr>
          <p:cNvPr id="12" name="Text 10"/>
          <p:cNvSpPr txBox="1"/>
          <p:nvPr/>
        </p:nvSpPr>
        <p:spPr>
          <a:xfrm>
            <a:off x="5257800" y="4251960"/>
            <a:ext cx="6309360" cy="320040"/>
          </a:xfrm>
          <a:prstGeom prst="rect">
            <a:avLst/>
          </a:prstGeom>
          <a:noFill/>
          <a:ln/>
        </p:spPr>
        <p:txBody>
          <a:bodyPr wrap="square" lIns="0" tIns="0" rIns="0" bIns="0" rtlCol="0" anchor="t"/>
          <a:lstStyle/>
          <a:p>
            <a:pPr indent="0" marL="0">
              <a:buNone/>
            </a:pPr>
            <a:r>
              <a:rPr lang="en-US" sz="1600" b="1" dirty="0">
                <a:solidFill>
                  <a:srgbClr val="2C6041"/>
                </a:solidFill>
                <a:latin typeface="Arial" pitchFamily="34" charset="0"/>
                <a:ea typeface="Arial" pitchFamily="34" charset="-122"/>
                <a:cs typeface="Arial" pitchFamily="34" charset="-120"/>
              </a:rPr>
              <a:t>Workarounds heute</a:t>
            </a:r>
            <a:endParaRPr lang="en-US" sz="1600" dirty="0"/>
          </a:p>
        </p:txBody>
      </p:sp>
      <p:sp>
        <p:nvSpPr>
          <p:cNvPr id="13" name="Shape 11"/>
          <p:cNvSpPr/>
          <p:nvPr/>
        </p:nvSpPr>
        <p:spPr>
          <a:xfrm>
            <a:off x="5257800" y="4617720"/>
            <a:ext cx="2651760" cy="438912"/>
          </a:xfrm>
          <a:prstGeom prst="roundRect">
            <a:avLst>
              <a:gd name="adj" fmla="val 50000"/>
            </a:avLst>
          </a:prstGeom>
          <a:solidFill>
            <a:srgbClr val="FFFFFF"/>
          </a:solidFill>
          <a:ln w="9525">
            <a:solidFill>
              <a:srgbClr val="D5CFC4"/>
            </a:solidFill>
            <a:prstDash val="solid"/>
          </a:ln>
        </p:spPr>
      </p:sp>
      <p:sp>
        <p:nvSpPr>
          <p:cNvPr id="14" name="Text 12"/>
          <p:cNvSpPr txBox="1"/>
          <p:nvPr/>
        </p:nvSpPr>
        <p:spPr>
          <a:xfrm>
            <a:off x="5257800" y="4617720"/>
            <a:ext cx="2651760" cy="438912"/>
          </a:xfrm>
          <a:prstGeom prst="rect">
            <a:avLst/>
          </a:prstGeom>
          <a:noFill/>
          <a:ln/>
        </p:spPr>
        <p:txBody>
          <a:bodyPr wrap="square" lIns="0" tIns="0" rIns="0" bIns="0" rtlCol="0" anchor="ctr"/>
          <a:lstStyle/>
          <a:p>
            <a:pPr algn="ctr" indent="0" marL="0">
              <a:buNone/>
            </a:pPr>
            <a:r>
              <a:rPr lang="en-US" sz="1600" dirty="0">
                <a:solidFill>
                  <a:srgbClr val="2B2A28"/>
                </a:solidFill>
                <a:latin typeface="Arial" pitchFamily="34" charset="0"/>
                <a:ea typeface="Arial" pitchFamily="34" charset="-122"/>
                <a:cs typeface="Arial" pitchFamily="34" charset="-120"/>
              </a:rPr>
              <a:t>Bowling, Clubs, Shoppen</a:t>
            </a:r>
            <a:endParaRPr lang="en-US" sz="1600" dirty="0"/>
          </a:p>
        </p:txBody>
      </p:sp>
      <p:sp>
        <p:nvSpPr>
          <p:cNvPr id="15" name="Shape 13"/>
          <p:cNvSpPr/>
          <p:nvPr/>
        </p:nvSpPr>
        <p:spPr>
          <a:xfrm>
            <a:off x="8046720" y="4617720"/>
            <a:ext cx="3200400" cy="438912"/>
          </a:xfrm>
          <a:prstGeom prst="roundRect">
            <a:avLst>
              <a:gd name="adj" fmla="val 50000"/>
            </a:avLst>
          </a:prstGeom>
          <a:solidFill>
            <a:srgbClr val="FFFFFF"/>
          </a:solidFill>
          <a:ln w="9525">
            <a:solidFill>
              <a:srgbClr val="D5CFC4"/>
            </a:solidFill>
            <a:prstDash val="solid"/>
          </a:ln>
        </p:spPr>
      </p:sp>
      <p:sp>
        <p:nvSpPr>
          <p:cNvPr id="16" name="Text 14"/>
          <p:cNvSpPr txBox="1"/>
          <p:nvPr/>
        </p:nvSpPr>
        <p:spPr>
          <a:xfrm>
            <a:off x="8046720" y="4617720"/>
            <a:ext cx="3200400" cy="438912"/>
          </a:xfrm>
          <a:prstGeom prst="rect">
            <a:avLst/>
          </a:prstGeom>
          <a:noFill/>
          <a:ln/>
        </p:spPr>
        <p:txBody>
          <a:bodyPr wrap="square" lIns="0" tIns="0" rIns="0" bIns="0" rtlCol="0" anchor="ctr"/>
          <a:lstStyle/>
          <a:p>
            <a:pPr algn="ctr" indent="0" marL="0">
              <a:buNone/>
            </a:pPr>
            <a:r>
              <a:rPr lang="en-US" sz="1600" dirty="0">
                <a:solidFill>
                  <a:srgbClr val="2B2A28"/>
                </a:solidFill>
                <a:latin typeface="Arial" pitchFamily="34" charset="0"/>
                <a:ea typeface="Arial" pitchFamily="34" charset="-122"/>
                <a:cs typeface="Arial" pitchFamily="34" charset="-120"/>
              </a:rPr>
              <a:t>Allein: Diamond Painting, iPad</a:t>
            </a:r>
            <a:endParaRPr lang="en-US" sz="1600" dirty="0"/>
          </a:p>
        </p:txBody>
      </p:sp>
      <p:sp>
        <p:nvSpPr>
          <p:cNvPr id="17" name="Shape 15"/>
          <p:cNvSpPr/>
          <p:nvPr/>
        </p:nvSpPr>
        <p:spPr>
          <a:xfrm>
            <a:off x="5257800" y="5184648"/>
            <a:ext cx="4663440" cy="438912"/>
          </a:xfrm>
          <a:prstGeom prst="roundRect">
            <a:avLst>
              <a:gd name="adj" fmla="val 50000"/>
            </a:avLst>
          </a:prstGeom>
          <a:solidFill>
            <a:srgbClr val="FFFFFF"/>
          </a:solidFill>
          <a:ln w="9525">
            <a:solidFill>
              <a:srgbClr val="D5CFC4"/>
            </a:solidFill>
            <a:prstDash val="solid"/>
          </a:ln>
        </p:spPr>
      </p:sp>
      <p:sp>
        <p:nvSpPr>
          <p:cNvPr id="18" name="Text 16"/>
          <p:cNvSpPr txBox="1"/>
          <p:nvPr/>
        </p:nvSpPr>
        <p:spPr>
          <a:xfrm>
            <a:off x="5257800" y="5184648"/>
            <a:ext cx="4663440" cy="438912"/>
          </a:xfrm>
          <a:prstGeom prst="rect">
            <a:avLst/>
          </a:prstGeom>
          <a:noFill/>
          <a:ln/>
        </p:spPr>
        <p:txBody>
          <a:bodyPr wrap="square" lIns="0" tIns="0" rIns="0" bIns="0" rtlCol="0" anchor="ctr"/>
          <a:lstStyle/>
          <a:p>
            <a:pPr algn="ctr" indent="0" marL="0">
              <a:buNone/>
            </a:pPr>
            <a:r>
              <a:rPr lang="en-US" sz="1600" dirty="0">
                <a:solidFill>
                  <a:srgbClr val="2B2A28"/>
                </a:solidFill>
                <a:latin typeface="Arial" pitchFamily="34" charset="0"/>
                <a:ea typeface="Arial" pitchFamily="34" charset="-122"/>
                <a:cs typeface="Arial" pitchFamily="34" charset="-120"/>
              </a:rPr>
              <a:t>Studios, VHS, Vereine einzeln suchen &amp; buchen</a:t>
            </a:r>
            <a:endParaRPr lang="en-US" sz="1600" dirty="0"/>
          </a:p>
        </p:txBody>
      </p:sp>
      <p:sp>
        <p:nvSpPr>
          <p:cNvPr id="19" name="Text 17"/>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A] · Folie 2/10 · 0:30 (0:15–0:45)</a:t>
            </a:r>
            <a:endParaRPr lang="en-US" sz="1100" dirty="0"/>
          </a:p>
        </p:txBody>
      </p:sp>
      <p:sp>
        <p:nvSpPr>
          <p:cNvPr id="20" name="Text 18"/>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10058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12 von 13 Befragten haben das Problem – und würden 20–50 € pro Kurs zahlen.</a:t>
            </a:r>
            <a:endParaRPr lang="en-US" sz="3200" dirty="0"/>
          </a:p>
        </p:txBody>
      </p:sp>
      <p:sp>
        <p:nvSpPr>
          <p:cNvPr id="3" name="Text 1"/>
          <p:cNvSpPr txBox="1"/>
          <p:nvPr/>
        </p:nvSpPr>
        <p:spPr>
          <a:xfrm>
            <a:off x="548640" y="164592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18</a:t>
            </a:r>
            <a:endParaRPr lang="en-US" sz="4800" dirty="0"/>
          </a:p>
        </p:txBody>
      </p:sp>
      <p:sp>
        <p:nvSpPr>
          <p:cNvPr id="4" name="Text 2"/>
          <p:cNvSpPr txBox="1"/>
          <p:nvPr/>
        </p:nvSpPr>
        <p:spPr>
          <a:xfrm>
            <a:off x="548640" y="2423160"/>
            <a:ext cx="2567864" cy="5486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Interviews (13 dokumentiert + 5 am Mittwoch)</a:t>
            </a:r>
            <a:endParaRPr lang="en-US" sz="1600" dirty="0"/>
          </a:p>
        </p:txBody>
      </p:sp>
      <p:sp>
        <p:nvSpPr>
          <p:cNvPr id="5" name="Text 3"/>
          <p:cNvSpPr txBox="1"/>
          <p:nvPr/>
        </p:nvSpPr>
        <p:spPr>
          <a:xfrm>
            <a:off x="3390824" y="164592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12/13</a:t>
            </a:r>
            <a:endParaRPr lang="en-US" sz="4800" dirty="0"/>
          </a:p>
        </p:txBody>
      </p:sp>
      <p:sp>
        <p:nvSpPr>
          <p:cNvPr id="6" name="Text 4"/>
          <p:cNvSpPr txBox="1"/>
          <p:nvPr/>
        </p:nvSpPr>
        <p:spPr>
          <a:xfrm>
            <a:off x="3390824" y="2423160"/>
            <a:ext cx="2567864" cy="5486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bestätigen das Problem (1 teilweise)</a:t>
            </a:r>
            <a:endParaRPr lang="en-US" sz="1600" dirty="0"/>
          </a:p>
        </p:txBody>
      </p:sp>
      <p:sp>
        <p:nvSpPr>
          <p:cNvPr id="7" name="Text 5"/>
          <p:cNvSpPr txBox="1"/>
          <p:nvPr/>
        </p:nvSpPr>
        <p:spPr>
          <a:xfrm>
            <a:off x="6233008" y="164592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3,7/5</a:t>
            </a:r>
            <a:endParaRPr lang="en-US" sz="4800" dirty="0"/>
          </a:p>
        </p:txBody>
      </p:sp>
      <p:sp>
        <p:nvSpPr>
          <p:cNvPr id="8" name="Text 6"/>
          <p:cNvSpPr txBox="1"/>
          <p:nvPr/>
        </p:nvSpPr>
        <p:spPr>
          <a:xfrm>
            <a:off x="6233008" y="2423160"/>
            <a:ext cx="2567864" cy="5486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Ø Leidensdruck</a:t>
            </a:r>
            <a:endParaRPr lang="en-US" sz="1600" dirty="0"/>
          </a:p>
        </p:txBody>
      </p:sp>
      <p:sp>
        <p:nvSpPr>
          <p:cNvPr id="9" name="Text 7"/>
          <p:cNvSpPr txBox="1"/>
          <p:nvPr/>
        </p:nvSpPr>
        <p:spPr>
          <a:xfrm>
            <a:off x="9075191" y="164592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20–50 €</a:t>
            </a:r>
            <a:endParaRPr lang="en-US" sz="4800" dirty="0"/>
          </a:p>
        </p:txBody>
      </p:sp>
      <p:sp>
        <p:nvSpPr>
          <p:cNvPr id="10" name="Text 8"/>
          <p:cNvSpPr txBox="1"/>
          <p:nvPr/>
        </p:nvSpPr>
        <p:spPr>
          <a:xfrm>
            <a:off x="9075191" y="2423160"/>
            <a:ext cx="2567864" cy="5486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pro Kurs typisch (Spanne 10–150 €)</a:t>
            </a:r>
            <a:endParaRPr lang="en-US" sz="1600" dirty="0"/>
          </a:p>
        </p:txBody>
      </p:sp>
      <p:sp>
        <p:nvSpPr>
          <p:cNvPr id="11" name="Shape 9"/>
          <p:cNvSpPr/>
          <p:nvPr/>
        </p:nvSpPr>
        <p:spPr>
          <a:xfrm>
            <a:off x="548640" y="3200400"/>
            <a:ext cx="5410048" cy="2788920"/>
          </a:xfrm>
          <a:prstGeom prst="roundRect">
            <a:avLst>
              <a:gd name="adj" fmla="val 4918"/>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2" name="Shape 10"/>
          <p:cNvSpPr/>
          <p:nvPr/>
        </p:nvSpPr>
        <p:spPr>
          <a:xfrm>
            <a:off x="822960" y="3474720"/>
            <a:ext cx="640080" cy="640080"/>
          </a:xfrm>
          <a:prstGeom prst="ellipse">
            <a:avLst/>
          </a:prstGeom>
          <a:solidFill>
            <a:srgbClr val="E4EFE8"/>
          </a:solidFill>
          <a:ln/>
        </p:spPr>
      </p:sp>
      <p:pic>
        <p:nvPicPr>
          <p:cNvPr id="13" name="Image 0" descr="preencoded.png">    </p:cNvPr>
          <p:cNvPicPr>
            <a:picLocks noChangeAspect="1"/>
          </p:cNvPicPr>
          <p:nvPr/>
        </p:nvPicPr>
        <p:blipFill>
          <a:blip r:embed="rId1"/>
          <a:stretch>
            <a:fillRect/>
          </a:stretch>
        </p:blipFill>
        <p:spPr>
          <a:xfrm>
            <a:off x="982980" y="3634740"/>
            <a:ext cx="320040" cy="320040"/>
          </a:xfrm>
          <a:prstGeom prst="rect">
            <a:avLst/>
          </a:prstGeom>
        </p:spPr>
      </p:pic>
      <p:sp>
        <p:nvSpPr>
          <p:cNvPr id="14" name="Text 11"/>
          <p:cNvSpPr txBox="1"/>
          <p:nvPr/>
        </p:nvSpPr>
        <p:spPr>
          <a:xfrm>
            <a:off x="1645920" y="3474720"/>
            <a:ext cx="4038448" cy="365760"/>
          </a:xfrm>
          <a:prstGeom prst="rect">
            <a:avLst/>
          </a:prstGeom>
          <a:noFill/>
          <a:ln/>
        </p:spPr>
        <p:txBody>
          <a:bodyPr wrap="square" lIns="0" tIns="0" rIns="0" bIns="0" rtlCol="0" anchor="t"/>
          <a:lstStyle/>
          <a:p>
            <a:pPr indent="0" marL="0">
              <a:buNone/>
            </a:pPr>
            <a:r>
              <a:rPr lang="en-US" sz="2200" b="1" dirty="0">
                <a:solidFill>
                  <a:srgbClr val="2C6041"/>
                </a:solidFill>
                <a:latin typeface="Arial" pitchFamily="34" charset="0"/>
                <a:ea typeface="Arial" pitchFamily="34" charset="-122"/>
                <a:cs typeface="Arial" pitchFamily="34" charset="-120"/>
              </a:rPr>
              <a:t>Feierabend-Kreative</a:t>
            </a:r>
            <a:endParaRPr lang="en-US" sz="2200" dirty="0"/>
          </a:p>
        </p:txBody>
      </p:sp>
      <p:sp>
        <p:nvSpPr>
          <p:cNvPr id="15" name="Text 12"/>
          <p:cNvSpPr txBox="1"/>
          <p:nvPr/>
        </p:nvSpPr>
        <p:spPr>
          <a:xfrm>
            <a:off x="1645920" y="3886200"/>
            <a:ext cx="4038448" cy="7772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20–35 J. · Studierende, Azubis, Berufstätige · wenig Zeit, oft niemand fürs gemeinsame Hobby</a:t>
            </a:r>
            <a:endParaRPr lang="en-US" sz="1600" dirty="0"/>
          </a:p>
        </p:txBody>
      </p:sp>
      <p:sp>
        <p:nvSpPr>
          <p:cNvPr id="16" name="Text 13"/>
          <p:cNvSpPr txBox="1"/>
          <p:nvPr/>
        </p:nvSpPr>
        <p:spPr>
          <a:xfrm>
            <a:off x="822960" y="4800600"/>
            <a:ext cx="4861408" cy="777240"/>
          </a:xfrm>
          <a:prstGeom prst="rect">
            <a:avLst/>
          </a:prstGeom>
          <a:noFill/>
          <a:ln/>
        </p:spPr>
        <p:txBody>
          <a:bodyPr wrap="square" lIns="0" tIns="0" rIns="0" bIns="0" rtlCol="0" anchor="t"/>
          <a:lstStyle/>
          <a:p>
            <a:pPr indent="0" marL="0">
              <a:buNone/>
            </a:pPr>
            <a:r>
              <a:rPr lang="en-US" sz="2000" b="1" i="1" dirty="0">
                <a:solidFill>
                  <a:srgbClr val="2B2A28"/>
                </a:solidFill>
                <a:latin typeface="Arial" pitchFamily="34" charset="0"/>
                <a:ea typeface="Arial" pitchFamily="34" charset="-122"/>
                <a:cs typeface="Arial" pitchFamily="34" charset="-120"/>
              </a:rPr>
              <a:t>„Mir wäre es unangenehm, allein zu einem Kurs zu gehen.“</a:t>
            </a:r>
            <a:endParaRPr lang="en-US" sz="2000" dirty="0"/>
          </a:p>
        </p:txBody>
      </p:sp>
      <p:sp>
        <p:nvSpPr>
          <p:cNvPr id="17" name="Text 14"/>
          <p:cNvSpPr txBox="1"/>
          <p:nvPr/>
        </p:nvSpPr>
        <p:spPr>
          <a:xfrm>
            <a:off x="822960" y="5532120"/>
            <a:ext cx="4861408" cy="320040"/>
          </a:xfrm>
          <a:prstGeom prst="rect">
            <a:avLst/>
          </a:prstGeom>
          <a:noFill/>
          <a:ln/>
        </p:spPr>
        <p:txBody>
          <a:bodyPr wrap="square" lIns="0" tIns="0" rIns="0" bIns="0" rtlCol="0" anchor="t"/>
          <a:lstStyle/>
          <a:p>
            <a:pPr indent="0" marL="0">
              <a:buNone/>
            </a:pPr>
            <a:r>
              <a:rPr lang="en-US" sz="1600" dirty="0">
                <a:solidFill>
                  <a:srgbClr val="5F5A52"/>
                </a:solidFill>
                <a:latin typeface="Arial" pitchFamily="34" charset="0"/>
                <a:ea typeface="Arial" pitchFamily="34" charset="-122"/>
                <a:cs typeface="Arial" pitchFamily="34" charset="-120"/>
              </a:rPr>
              <a:t>→ Gruppen- &amp; Freundesformate</a:t>
            </a:r>
            <a:endParaRPr lang="en-US" sz="1600" dirty="0"/>
          </a:p>
        </p:txBody>
      </p:sp>
      <p:sp>
        <p:nvSpPr>
          <p:cNvPr id="18" name="Shape 15"/>
          <p:cNvSpPr/>
          <p:nvPr/>
        </p:nvSpPr>
        <p:spPr>
          <a:xfrm>
            <a:off x="6233008" y="3200400"/>
            <a:ext cx="5410048" cy="2788920"/>
          </a:xfrm>
          <a:prstGeom prst="roundRect">
            <a:avLst>
              <a:gd name="adj" fmla="val 4918"/>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9" name="Shape 16"/>
          <p:cNvSpPr/>
          <p:nvPr/>
        </p:nvSpPr>
        <p:spPr>
          <a:xfrm>
            <a:off x="6507328" y="3474720"/>
            <a:ext cx="640080" cy="640080"/>
          </a:xfrm>
          <a:prstGeom prst="ellipse">
            <a:avLst/>
          </a:prstGeom>
          <a:solidFill>
            <a:srgbClr val="E4EFE8"/>
          </a:solidFill>
          <a:ln/>
        </p:spPr>
      </p:sp>
      <p:pic>
        <p:nvPicPr>
          <p:cNvPr id="20" name="Image 1" descr="preencoded.png">    </p:cNvPr>
          <p:cNvPicPr>
            <a:picLocks noChangeAspect="1"/>
          </p:cNvPicPr>
          <p:nvPr/>
        </p:nvPicPr>
        <p:blipFill>
          <a:blip r:embed="rId2"/>
          <a:stretch>
            <a:fillRect/>
          </a:stretch>
        </p:blipFill>
        <p:spPr>
          <a:xfrm>
            <a:off x="6667348" y="3634740"/>
            <a:ext cx="320040" cy="320040"/>
          </a:xfrm>
          <a:prstGeom prst="rect">
            <a:avLst/>
          </a:prstGeom>
        </p:spPr>
      </p:pic>
      <p:sp>
        <p:nvSpPr>
          <p:cNvPr id="21" name="Text 17"/>
          <p:cNvSpPr txBox="1"/>
          <p:nvPr/>
        </p:nvSpPr>
        <p:spPr>
          <a:xfrm>
            <a:off x="7330288" y="3474720"/>
            <a:ext cx="4038448" cy="365760"/>
          </a:xfrm>
          <a:prstGeom prst="rect">
            <a:avLst/>
          </a:prstGeom>
          <a:noFill/>
          <a:ln/>
        </p:spPr>
        <p:txBody>
          <a:bodyPr wrap="square" lIns="0" tIns="0" rIns="0" bIns="0" rtlCol="0" anchor="t"/>
          <a:lstStyle/>
          <a:p>
            <a:pPr indent="0" marL="0">
              <a:buNone/>
            </a:pPr>
            <a:r>
              <a:rPr lang="en-US" sz="2200" b="1" dirty="0">
                <a:solidFill>
                  <a:srgbClr val="2C6041"/>
                </a:solidFill>
                <a:latin typeface="Arial" pitchFamily="34" charset="0"/>
                <a:ea typeface="Arial" pitchFamily="34" charset="-122"/>
                <a:cs typeface="Arial" pitchFamily="34" charset="-120"/>
              </a:rPr>
              <a:t>Teamevent-Entscheider:innen</a:t>
            </a:r>
            <a:endParaRPr lang="en-US" sz="2200" dirty="0"/>
          </a:p>
        </p:txBody>
      </p:sp>
      <p:sp>
        <p:nvSpPr>
          <p:cNvPr id="22" name="Text 18"/>
          <p:cNvSpPr txBox="1"/>
          <p:nvPr/>
        </p:nvSpPr>
        <p:spPr>
          <a:xfrm>
            <a:off x="7330288" y="3886200"/>
            <a:ext cx="4038448" cy="7772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HR, Kita-Leitungen, Teams · suchen Erlebnisse, die man unkompliziert bucht</a:t>
            </a:r>
            <a:endParaRPr lang="en-US" sz="1600" dirty="0"/>
          </a:p>
        </p:txBody>
      </p:sp>
      <p:sp>
        <p:nvSpPr>
          <p:cNvPr id="23" name="Text 19"/>
          <p:cNvSpPr txBox="1"/>
          <p:nvPr/>
        </p:nvSpPr>
        <p:spPr>
          <a:xfrm>
            <a:off x="6507328" y="4800600"/>
            <a:ext cx="4861408" cy="777240"/>
          </a:xfrm>
          <a:prstGeom prst="rect">
            <a:avLst/>
          </a:prstGeom>
          <a:noFill/>
          <a:ln/>
        </p:spPr>
        <p:txBody>
          <a:bodyPr wrap="square" lIns="0" tIns="0" rIns="0" bIns="0" rtlCol="0" anchor="t"/>
          <a:lstStyle/>
          <a:p>
            <a:pPr indent="0" marL="0">
              <a:buNone/>
            </a:pPr>
            <a:r>
              <a:rPr lang="en-US" sz="2000" b="1" i="1" dirty="0">
                <a:solidFill>
                  <a:srgbClr val="2B2A28"/>
                </a:solidFill>
                <a:latin typeface="Arial" pitchFamily="34" charset="0"/>
                <a:ea typeface="Arial" pitchFamily="34" charset="-122"/>
                <a:cs typeface="Arial" pitchFamily="34" charset="-120"/>
              </a:rPr>
              <a:t>„Ich würde es direkt für ein Teamevent buchen.“</a:t>
            </a:r>
            <a:endParaRPr lang="en-US" sz="2000" dirty="0"/>
          </a:p>
        </p:txBody>
      </p:sp>
      <p:sp>
        <p:nvSpPr>
          <p:cNvPr id="24" name="Text 20"/>
          <p:cNvSpPr txBox="1"/>
          <p:nvPr/>
        </p:nvSpPr>
        <p:spPr>
          <a:xfrm>
            <a:off x="6507328" y="5532120"/>
            <a:ext cx="4861408" cy="320040"/>
          </a:xfrm>
          <a:prstGeom prst="rect">
            <a:avLst/>
          </a:prstGeom>
          <a:noFill/>
          <a:ln/>
        </p:spPr>
        <p:txBody>
          <a:bodyPr wrap="square" lIns="0" tIns="0" rIns="0" bIns="0" rtlCol="0" anchor="t"/>
          <a:lstStyle/>
          <a:p>
            <a:pPr indent="0" marL="0">
              <a:buNone/>
            </a:pPr>
            <a:r>
              <a:rPr lang="en-US" sz="1600" dirty="0">
                <a:solidFill>
                  <a:srgbClr val="5F5A52"/>
                </a:solidFill>
                <a:latin typeface="Arial" pitchFamily="34" charset="0"/>
                <a:ea typeface="Arial" pitchFamily="34" charset="-122"/>
                <a:cs typeface="Arial" pitchFamily="34" charset="-120"/>
              </a:rPr>
              <a:t>– Kita-Leitung, 44</a:t>
            </a:r>
            <a:endParaRPr lang="en-US" sz="1600" dirty="0"/>
          </a:p>
        </p:txBody>
      </p:sp>
      <p:sp>
        <p:nvSpPr>
          <p:cNvPr id="25" name="Text 21"/>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A] · Folie 3/10 · 0:35 (0:45–1:20)</a:t>
            </a:r>
            <a:endParaRPr lang="en-US" sz="1100" dirty="0"/>
          </a:p>
        </p:txBody>
      </p:sp>
      <p:sp>
        <p:nvSpPr>
          <p:cNvPr id="26" name="Text 22"/>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5486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Alles unter einem Dach – online in 4 Schritten gebucht.</a:t>
            </a:r>
            <a:endParaRPr lang="en-US" sz="3200" dirty="0"/>
          </a:p>
        </p:txBody>
      </p:sp>
      <p:sp>
        <p:nvSpPr>
          <p:cNvPr id="3" name="Shape 1"/>
          <p:cNvSpPr/>
          <p:nvPr/>
        </p:nvSpPr>
        <p:spPr>
          <a:xfrm>
            <a:off x="548640" y="1234440"/>
            <a:ext cx="2468880" cy="548640"/>
          </a:xfrm>
          <a:prstGeom prst="roundRect">
            <a:avLst>
              <a:gd name="adj" fmla="val 50000"/>
            </a:avLst>
          </a:prstGeom>
          <a:solidFill>
            <a:srgbClr val="E4EFE8"/>
          </a:solidFill>
          <a:ln/>
        </p:spPr>
      </p:sp>
      <p:sp>
        <p:nvSpPr>
          <p:cNvPr id="4" name="Text 2"/>
          <p:cNvSpPr txBox="1"/>
          <p:nvPr/>
        </p:nvSpPr>
        <p:spPr>
          <a:xfrm>
            <a:off x="548640" y="1234440"/>
            <a:ext cx="2468880" cy="548640"/>
          </a:xfrm>
          <a:prstGeom prst="rect">
            <a:avLst/>
          </a:prstGeom>
          <a:noFill/>
          <a:ln/>
        </p:spPr>
        <p:txBody>
          <a:bodyPr wrap="square" lIns="0" tIns="0" rIns="0" bIns="0" rtlCol="0" anchor="ctr"/>
          <a:lstStyle/>
          <a:p>
            <a:pPr algn="ctr" indent="0" marL="0">
              <a:buNone/>
            </a:pPr>
            <a:r>
              <a:rPr lang="en-US" sz="1800" b="1" dirty="0">
                <a:solidFill>
                  <a:srgbClr val="2C6041"/>
                </a:solidFill>
                <a:latin typeface="Arial" pitchFamily="34" charset="0"/>
                <a:ea typeface="Arial" pitchFamily="34" charset="-122"/>
                <a:cs typeface="Arial" pitchFamily="34" charset="-120"/>
              </a:rPr>
              <a:t>1  Anmelden</a:t>
            </a:r>
            <a:endParaRPr lang="en-US" sz="1800" dirty="0"/>
          </a:p>
        </p:txBody>
      </p:sp>
      <p:sp>
        <p:nvSpPr>
          <p:cNvPr id="5" name="Text 3"/>
          <p:cNvSpPr txBox="1"/>
          <p:nvPr/>
        </p:nvSpPr>
        <p:spPr>
          <a:xfrm>
            <a:off x="3017520" y="1234440"/>
            <a:ext cx="384048" cy="548640"/>
          </a:xfrm>
          <a:prstGeom prst="rect">
            <a:avLst/>
          </a:prstGeom>
          <a:noFill/>
          <a:ln/>
        </p:spPr>
        <p:txBody>
          <a:bodyPr wrap="square" lIns="0" tIns="0" rIns="0" bIns="0" rtlCol="0" anchor="ctr"/>
          <a:lstStyle/>
          <a:p>
            <a:pPr algn="ctr" indent="0" marL="0">
              <a:buNone/>
            </a:pPr>
            <a:r>
              <a:rPr lang="en-US" sz="2000" b="1" dirty="0">
                <a:solidFill>
                  <a:srgbClr val="2C6041"/>
                </a:solidFill>
                <a:latin typeface="Arial" pitchFamily="34" charset="0"/>
                <a:ea typeface="Arial" pitchFamily="34" charset="-122"/>
                <a:cs typeface="Arial" pitchFamily="34" charset="-120"/>
              </a:rPr>
              <a:t>→</a:t>
            </a:r>
            <a:endParaRPr lang="en-US" sz="2000" dirty="0"/>
          </a:p>
        </p:txBody>
      </p:sp>
      <p:sp>
        <p:nvSpPr>
          <p:cNvPr id="6" name="Shape 4"/>
          <p:cNvSpPr/>
          <p:nvPr/>
        </p:nvSpPr>
        <p:spPr>
          <a:xfrm>
            <a:off x="3401568" y="1234440"/>
            <a:ext cx="2468880" cy="548640"/>
          </a:xfrm>
          <a:prstGeom prst="roundRect">
            <a:avLst>
              <a:gd name="adj" fmla="val 50000"/>
            </a:avLst>
          </a:prstGeom>
          <a:solidFill>
            <a:srgbClr val="E4EFE8"/>
          </a:solidFill>
          <a:ln/>
        </p:spPr>
      </p:sp>
      <p:sp>
        <p:nvSpPr>
          <p:cNvPr id="7" name="Text 5"/>
          <p:cNvSpPr txBox="1"/>
          <p:nvPr/>
        </p:nvSpPr>
        <p:spPr>
          <a:xfrm>
            <a:off x="3401568" y="1234440"/>
            <a:ext cx="2468880" cy="548640"/>
          </a:xfrm>
          <a:prstGeom prst="rect">
            <a:avLst/>
          </a:prstGeom>
          <a:noFill/>
          <a:ln/>
        </p:spPr>
        <p:txBody>
          <a:bodyPr wrap="square" lIns="0" tIns="0" rIns="0" bIns="0" rtlCol="0" anchor="ctr"/>
          <a:lstStyle/>
          <a:p>
            <a:pPr algn="ctr" indent="0" marL="0">
              <a:buNone/>
            </a:pPr>
            <a:r>
              <a:rPr lang="en-US" sz="1800" b="1" dirty="0">
                <a:solidFill>
                  <a:srgbClr val="2C6041"/>
                </a:solidFill>
                <a:latin typeface="Arial" pitchFamily="34" charset="0"/>
                <a:ea typeface="Arial" pitchFamily="34" charset="-122"/>
                <a:cs typeface="Arial" pitchFamily="34" charset="-120"/>
              </a:rPr>
              <a:t>2  Kurs wählen</a:t>
            </a:r>
            <a:endParaRPr lang="en-US" sz="1800" dirty="0"/>
          </a:p>
        </p:txBody>
      </p:sp>
      <p:sp>
        <p:nvSpPr>
          <p:cNvPr id="8" name="Text 6"/>
          <p:cNvSpPr txBox="1"/>
          <p:nvPr/>
        </p:nvSpPr>
        <p:spPr>
          <a:xfrm>
            <a:off x="5870448" y="1234440"/>
            <a:ext cx="384048" cy="548640"/>
          </a:xfrm>
          <a:prstGeom prst="rect">
            <a:avLst/>
          </a:prstGeom>
          <a:noFill/>
          <a:ln/>
        </p:spPr>
        <p:txBody>
          <a:bodyPr wrap="square" lIns="0" tIns="0" rIns="0" bIns="0" rtlCol="0" anchor="ctr"/>
          <a:lstStyle/>
          <a:p>
            <a:pPr algn="ctr" indent="0" marL="0">
              <a:buNone/>
            </a:pPr>
            <a:r>
              <a:rPr lang="en-US" sz="2000" b="1" dirty="0">
                <a:solidFill>
                  <a:srgbClr val="2C6041"/>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6254496" y="1234440"/>
            <a:ext cx="2468880" cy="548640"/>
          </a:xfrm>
          <a:prstGeom prst="roundRect">
            <a:avLst>
              <a:gd name="adj" fmla="val 50000"/>
            </a:avLst>
          </a:prstGeom>
          <a:solidFill>
            <a:srgbClr val="E4EFE8"/>
          </a:solidFill>
          <a:ln/>
        </p:spPr>
      </p:sp>
      <p:sp>
        <p:nvSpPr>
          <p:cNvPr id="10" name="Text 8"/>
          <p:cNvSpPr txBox="1"/>
          <p:nvPr/>
        </p:nvSpPr>
        <p:spPr>
          <a:xfrm>
            <a:off x="6254496" y="1234440"/>
            <a:ext cx="2468880" cy="548640"/>
          </a:xfrm>
          <a:prstGeom prst="rect">
            <a:avLst/>
          </a:prstGeom>
          <a:noFill/>
          <a:ln/>
        </p:spPr>
        <p:txBody>
          <a:bodyPr wrap="square" lIns="0" tIns="0" rIns="0" bIns="0" rtlCol="0" anchor="ctr"/>
          <a:lstStyle/>
          <a:p>
            <a:pPr algn="ctr" indent="0" marL="0">
              <a:buNone/>
            </a:pPr>
            <a:r>
              <a:rPr lang="en-US" sz="1800" b="1" dirty="0">
                <a:solidFill>
                  <a:srgbClr val="2C6041"/>
                </a:solidFill>
                <a:latin typeface="Arial" pitchFamily="34" charset="0"/>
                <a:ea typeface="Arial" pitchFamily="34" charset="-122"/>
                <a:cs typeface="Arial" pitchFamily="34" charset="-120"/>
              </a:rPr>
              <a:t>3  Termin buchen</a:t>
            </a:r>
            <a:endParaRPr lang="en-US" sz="1800" dirty="0"/>
          </a:p>
        </p:txBody>
      </p:sp>
      <p:sp>
        <p:nvSpPr>
          <p:cNvPr id="11" name="Text 9"/>
          <p:cNvSpPr txBox="1"/>
          <p:nvPr/>
        </p:nvSpPr>
        <p:spPr>
          <a:xfrm>
            <a:off x="8723376" y="1234440"/>
            <a:ext cx="384048" cy="548640"/>
          </a:xfrm>
          <a:prstGeom prst="rect">
            <a:avLst/>
          </a:prstGeom>
          <a:noFill/>
          <a:ln/>
        </p:spPr>
        <p:txBody>
          <a:bodyPr wrap="square" lIns="0" tIns="0" rIns="0" bIns="0" rtlCol="0" anchor="ctr"/>
          <a:lstStyle/>
          <a:p>
            <a:pPr algn="ctr" indent="0" marL="0">
              <a:buNone/>
            </a:pPr>
            <a:r>
              <a:rPr lang="en-US" sz="2000" b="1" dirty="0">
                <a:solidFill>
                  <a:srgbClr val="2C6041"/>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9107424" y="1234440"/>
            <a:ext cx="2468880" cy="548640"/>
          </a:xfrm>
          <a:prstGeom prst="roundRect">
            <a:avLst>
              <a:gd name="adj" fmla="val 50000"/>
            </a:avLst>
          </a:prstGeom>
          <a:solidFill>
            <a:srgbClr val="2C6041"/>
          </a:solidFill>
          <a:ln/>
        </p:spPr>
      </p:sp>
      <p:sp>
        <p:nvSpPr>
          <p:cNvPr id="13" name="Text 11"/>
          <p:cNvSpPr txBox="1"/>
          <p:nvPr/>
        </p:nvSpPr>
        <p:spPr>
          <a:xfrm>
            <a:off x="9107424" y="1234440"/>
            <a:ext cx="24688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  Hingehen</a:t>
            </a:r>
            <a:endParaRPr lang="en-US" sz="1800" dirty="0"/>
          </a:p>
        </p:txBody>
      </p:sp>
      <p:sp>
        <p:nvSpPr>
          <p:cNvPr id="14" name="Text 12"/>
          <p:cNvSpPr txBox="1"/>
          <p:nvPr/>
        </p:nvSpPr>
        <p:spPr>
          <a:xfrm>
            <a:off x="548640" y="2103120"/>
            <a:ext cx="3566160" cy="777240"/>
          </a:xfrm>
          <a:prstGeom prst="rect">
            <a:avLst/>
          </a:prstGeom>
          <a:noFill/>
          <a:ln/>
        </p:spPr>
        <p:txBody>
          <a:bodyPr wrap="square" lIns="0" tIns="0" rIns="0" bIns="0" rtlCol="0" anchor="b"/>
          <a:lstStyle/>
          <a:p>
            <a:pPr indent="0" marL="0">
              <a:buNone/>
            </a:pPr>
            <a:r>
              <a:rPr lang="en-US" sz="5400" b="1" dirty="0">
                <a:solidFill>
                  <a:srgbClr val="2C6041"/>
                </a:solidFill>
                <a:latin typeface="Arial" pitchFamily="34" charset="0"/>
                <a:ea typeface="Arial" pitchFamily="34" charset="-122"/>
                <a:cs typeface="Arial" pitchFamily="34" charset="-120"/>
              </a:rPr>
              <a:t>3 von 3</a:t>
            </a:r>
            <a:endParaRPr lang="en-US" sz="5400" dirty="0"/>
          </a:p>
        </p:txBody>
      </p:sp>
      <p:sp>
        <p:nvSpPr>
          <p:cNvPr id="15" name="Text 13"/>
          <p:cNvSpPr txBox="1"/>
          <p:nvPr/>
        </p:nvSpPr>
        <p:spPr>
          <a:xfrm>
            <a:off x="548640" y="2926080"/>
            <a:ext cx="3566160" cy="5943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Testpersonen würden Atelierhaus nutzen</a:t>
            </a:r>
            <a:endParaRPr lang="en-US" sz="1600" dirty="0"/>
          </a:p>
        </p:txBody>
      </p:sp>
      <p:sp>
        <p:nvSpPr>
          <p:cNvPr id="16" name="Text 14"/>
          <p:cNvSpPr txBox="1"/>
          <p:nvPr/>
        </p:nvSpPr>
        <p:spPr>
          <a:xfrm>
            <a:off x="548640" y="3657600"/>
            <a:ext cx="3566160" cy="96012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Personaler, 39: Kurs gesucht und fürs Team gebucht – ohne Hilfe. „Schneller Buchungsprozess, selbsterklärend.“</a:t>
            </a:r>
            <a:endParaRPr lang="en-US" sz="1600" dirty="0"/>
          </a:p>
        </p:txBody>
      </p:sp>
      <p:sp>
        <p:nvSpPr>
          <p:cNvPr id="17" name="Shape 15"/>
          <p:cNvSpPr/>
          <p:nvPr/>
        </p:nvSpPr>
        <p:spPr>
          <a:xfrm>
            <a:off x="548640" y="4617720"/>
            <a:ext cx="3566160" cy="960120"/>
          </a:xfrm>
          <a:prstGeom prst="roundRect">
            <a:avLst>
              <a:gd name="adj" fmla="val 11429"/>
            </a:avLst>
          </a:prstGeom>
          <a:solidFill>
            <a:srgbClr val="E4EFE8"/>
          </a:solidFill>
          <a:ln/>
        </p:spPr>
      </p:sp>
      <p:sp>
        <p:nvSpPr>
          <p:cNvPr id="18" name="Text 16"/>
          <p:cNvSpPr txBox="1"/>
          <p:nvPr/>
        </p:nvSpPr>
        <p:spPr>
          <a:xfrm>
            <a:off x="731520" y="4617720"/>
            <a:ext cx="3200400" cy="960120"/>
          </a:xfrm>
          <a:prstGeom prst="rect">
            <a:avLst/>
          </a:prstGeom>
          <a:noFill/>
          <a:ln/>
        </p:spPr>
        <p:txBody>
          <a:bodyPr wrap="square" lIns="0" tIns="0" rIns="0" bIns="0" rtlCol="0" anchor="ctr"/>
          <a:lstStyle/>
          <a:p>
            <a:pPr indent="0" marL="0">
              <a:buNone/>
            </a:pPr>
            <a:r>
              <a:rPr lang="en-US" sz="1600" b="1" dirty="0">
                <a:solidFill>
                  <a:srgbClr val="2C6041"/>
                </a:solidFill>
                <a:latin typeface="Arial" pitchFamily="34" charset="0"/>
                <a:ea typeface="Arial" pitchFamily="34" charset="-122"/>
                <a:cs typeface="Arial" pitchFamily="34" charset="-120"/>
              </a:rPr>
              <a:t>Learning: </a:t>
            </a:r>
            <a:pPr indent="0" marL="0">
              <a:buNone/>
            </a:pPr>
            <a:r>
              <a:rPr lang="en-US" sz="1600" dirty="0">
                <a:solidFill>
                  <a:srgbClr val="2B2A28"/>
                </a:solidFill>
                <a:latin typeface="Arial" pitchFamily="34" charset="0"/>
                <a:ea typeface="Arial" pitchFamily="34" charset="-122"/>
                <a:cs typeface="Arial" pitchFamily="34" charset="-120"/>
              </a:rPr>
              <a:t>Credit-System verwirrte → ersetzt durch direkte Bezahlung.</a:t>
            </a:r>
            <a:endParaRPr lang="en-US" sz="1600" dirty="0"/>
          </a:p>
        </p:txBody>
      </p:sp>
      <p:sp>
        <p:nvSpPr>
          <p:cNvPr id="19" name="Shape 17"/>
          <p:cNvSpPr/>
          <p:nvPr/>
        </p:nvSpPr>
        <p:spPr>
          <a:xfrm>
            <a:off x="4434840" y="2148840"/>
            <a:ext cx="2804160" cy="2103120"/>
          </a:xfrm>
          <a:prstGeom prst="roundRect">
            <a:avLst>
              <a:gd name="adj" fmla="val 5217"/>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pic>
        <p:nvPicPr>
          <p:cNvPr id="20" name="Image 0" descr="Screenshot Buchung: Termin wählen">    </p:cNvPr>
          <p:cNvPicPr>
            <a:picLocks noChangeAspect="1"/>
          </p:cNvPicPr>
          <p:nvPr/>
        </p:nvPicPr>
        <p:blipFill>
          <a:blip r:embed="rId1"/>
          <a:stretch>
            <a:fillRect/>
          </a:stretch>
        </p:blipFill>
        <p:spPr>
          <a:xfrm>
            <a:off x="4434840" y="2148840"/>
            <a:ext cx="2804160" cy="2103120"/>
          </a:xfrm>
          <a:prstGeom prst="rect">
            <a:avLst/>
          </a:prstGeom>
        </p:spPr>
      </p:pic>
      <p:sp>
        <p:nvSpPr>
          <p:cNvPr id="21" name="Shape 18"/>
          <p:cNvSpPr/>
          <p:nvPr/>
        </p:nvSpPr>
        <p:spPr>
          <a:xfrm>
            <a:off x="7949771" y="2148840"/>
            <a:ext cx="3693284" cy="2103120"/>
          </a:xfrm>
          <a:prstGeom prst="roundRect">
            <a:avLst>
              <a:gd name="adj" fmla="val 5217"/>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pic>
        <p:nvPicPr>
          <p:cNvPr id="22" name="Image 1" descr="Screenshot Für Firmen">    </p:cNvPr>
          <p:cNvPicPr>
            <a:picLocks noChangeAspect="1"/>
          </p:cNvPicPr>
          <p:nvPr/>
        </p:nvPicPr>
        <p:blipFill>
          <a:blip r:embed="rId2"/>
          <a:stretch>
            <a:fillRect/>
          </a:stretch>
        </p:blipFill>
        <p:spPr>
          <a:xfrm>
            <a:off x="7949771" y="2148840"/>
            <a:ext cx="3693284" cy="2103120"/>
          </a:xfrm>
          <a:prstGeom prst="rect">
            <a:avLst/>
          </a:prstGeom>
        </p:spPr>
      </p:pic>
      <p:sp>
        <p:nvSpPr>
          <p:cNvPr id="23" name="Text 19"/>
          <p:cNvSpPr txBox="1"/>
          <p:nvPr/>
        </p:nvSpPr>
        <p:spPr>
          <a:xfrm>
            <a:off x="4434840" y="4361688"/>
            <a:ext cx="3261360" cy="274320"/>
          </a:xfrm>
          <a:prstGeom prst="rect">
            <a:avLst/>
          </a:prstGeom>
          <a:noFill/>
          <a:ln/>
        </p:spPr>
        <p:txBody>
          <a:bodyPr wrap="square" lIns="0" tIns="0" rIns="0" bIns="0" rtlCol="0" anchor="t"/>
          <a:lstStyle/>
          <a:p>
            <a:pPr indent="0" marL="0">
              <a:buNone/>
            </a:pPr>
            <a:r>
              <a:rPr lang="en-US" sz="1400" dirty="0">
                <a:solidFill>
                  <a:srgbClr val="5F5A52"/>
                </a:solidFill>
                <a:latin typeface="Arial" pitchFamily="34" charset="0"/>
                <a:ea typeface="Arial" pitchFamily="34" charset="-122"/>
                <a:cs typeface="Arial" pitchFamily="34" charset="-120"/>
              </a:rPr>
              <a:t>Kursbuchung (RIMOWA-Format)</a:t>
            </a:r>
            <a:endParaRPr lang="en-US" sz="1400" dirty="0"/>
          </a:p>
        </p:txBody>
      </p:sp>
      <p:sp>
        <p:nvSpPr>
          <p:cNvPr id="24" name="Text 20"/>
          <p:cNvSpPr txBox="1"/>
          <p:nvPr/>
        </p:nvSpPr>
        <p:spPr>
          <a:xfrm>
            <a:off x="7949771" y="4361688"/>
            <a:ext cx="3693284" cy="274320"/>
          </a:xfrm>
          <a:prstGeom prst="rect">
            <a:avLst/>
          </a:prstGeom>
          <a:noFill/>
          <a:ln/>
        </p:spPr>
        <p:txBody>
          <a:bodyPr wrap="square" lIns="0" tIns="0" rIns="0" bIns="0" rtlCol="0" anchor="t"/>
          <a:lstStyle/>
          <a:p>
            <a:pPr indent="0" marL="0">
              <a:buNone/>
            </a:pPr>
            <a:r>
              <a:rPr lang="en-US" sz="1400" dirty="0">
                <a:solidFill>
                  <a:srgbClr val="5F5A52"/>
                </a:solidFill>
                <a:latin typeface="Arial" pitchFamily="34" charset="0"/>
                <a:ea typeface="Arial" pitchFamily="34" charset="-122"/>
                <a:cs typeface="Arial" pitchFamily="34" charset="-120"/>
              </a:rPr>
              <a:t>Für Firmen: 4–30 Personen</a:t>
            </a:r>
            <a:endParaRPr lang="en-US" sz="1400" dirty="0"/>
          </a:p>
        </p:txBody>
      </p:sp>
      <p:sp>
        <p:nvSpPr>
          <p:cNvPr id="25" name="Text 21"/>
          <p:cNvSpPr txBox="1"/>
          <p:nvPr/>
        </p:nvSpPr>
        <p:spPr>
          <a:xfrm>
            <a:off x="4434840" y="4754880"/>
            <a:ext cx="7208215" cy="594360"/>
          </a:xfrm>
          <a:prstGeom prst="rect">
            <a:avLst/>
          </a:prstGeom>
          <a:noFill/>
          <a:ln/>
        </p:spPr>
        <p:txBody>
          <a:bodyPr wrap="square" lIns="0" tIns="0" rIns="0" bIns="0" rtlCol="0" anchor="t"/>
          <a:lstStyle/>
          <a:p>
            <a:pPr indent="0" marL="0">
              <a:buNone/>
            </a:pPr>
            <a:r>
              <a:rPr lang="en-US" sz="1800" b="1" dirty="0">
                <a:solidFill>
                  <a:srgbClr val="2C6041"/>
                </a:solidFill>
                <a:latin typeface="Arial" pitchFamily="34" charset="0"/>
                <a:ea typeface="Arial" pitchFamily="34" charset="-122"/>
                <a:cs typeface="Arial" pitchFamily="34" charset="-120"/>
              </a:rPr>
              <a:t>Prototyp: 11 Kursarten · 18 Kurse · Firmenbuchung · Partner-Bereich für spätere Franchise-Betreiber</a:t>
            </a:r>
            <a:endParaRPr lang="en-US" sz="1800" dirty="0"/>
          </a:p>
        </p:txBody>
      </p:sp>
      <p:sp>
        <p:nvSpPr>
          <p:cNvPr id="26" name="Text 22"/>
          <p:cNvSpPr txBox="1"/>
          <p:nvPr/>
        </p:nvSpPr>
        <p:spPr>
          <a:xfrm>
            <a:off x="4434840" y="5440680"/>
            <a:ext cx="7208215" cy="320040"/>
          </a:xfrm>
          <a:prstGeom prst="rect">
            <a:avLst/>
          </a:prstGeom>
          <a:noFill/>
          <a:ln/>
        </p:spPr>
        <p:txBody>
          <a:bodyPr wrap="square" lIns="0" tIns="0" rIns="0" bIns="0" rtlCol="0" anchor="t"/>
          <a:lstStyle/>
          <a:p>
            <a:pPr indent="0" marL="0">
              <a:buNone/>
            </a:pPr>
            <a:r>
              <a:rPr lang="en-US" sz="1600" i="1" dirty="0">
                <a:solidFill>
                  <a:srgbClr val="5F5A52"/>
                </a:solidFill>
                <a:latin typeface="Arial" pitchFamily="34" charset="0"/>
                <a:ea typeface="Arial" pitchFamily="34" charset="-122"/>
                <a:cs typeface="Arial" pitchFamily="34" charset="-120"/>
              </a:rPr>
              <a:t>Marken auf der Website = geplante Markenformate, noch keine unterschriebenen Kooperationen.</a:t>
            </a:r>
            <a:endParaRPr lang="en-US" sz="1600" dirty="0"/>
          </a:p>
        </p:txBody>
      </p:sp>
      <p:sp>
        <p:nvSpPr>
          <p:cNvPr id="27" name="Text 23"/>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B] · Folie 4/10 · 0:35 (1:20–1:55)</a:t>
            </a:r>
            <a:endParaRPr lang="en-US" sz="1100" dirty="0"/>
          </a:p>
        </p:txBody>
      </p:sp>
      <p:sp>
        <p:nvSpPr>
          <p:cNvPr id="28" name="Text 24"/>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10058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Allein München trägt den Start: 1,79 Mio € Umsatz realistisch erreichbar.</a:t>
            </a:r>
            <a:endParaRPr lang="en-US" sz="3200" dirty="0"/>
          </a:p>
        </p:txBody>
      </p:sp>
      <p:sp>
        <p:nvSpPr>
          <p:cNvPr id="3" name="Shape 1"/>
          <p:cNvSpPr/>
          <p:nvPr/>
        </p:nvSpPr>
        <p:spPr>
          <a:xfrm>
            <a:off x="1097280" y="1600200"/>
            <a:ext cx="4297680" cy="4297680"/>
          </a:xfrm>
          <a:prstGeom prst="ellipse">
            <a:avLst/>
          </a:prstGeom>
          <a:solidFill>
            <a:srgbClr val="E4EFE8"/>
          </a:solidFill>
          <a:ln w="19050">
            <a:solidFill>
              <a:srgbClr val="FFFFFF"/>
            </a:solidFill>
            <a:prstDash val="solid"/>
          </a:ln>
        </p:spPr>
      </p:sp>
      <p:sp>
        <p:nvSpPr>
          <p:cNvPr id="4" name="Shape 2"/>
          <p:cNvSpPr/>
          <p:nvPr/>
        </p:nvSpPr>
        <p:spPr>
          <a:xfrm>
            <a:off x="1714500" y="2834640"/>
            <a:ext cx="3063240" cy="3063240"/>
          </a:xfrm>
          <a:prstGeom prst="ellipse">
            <a:avLst/>
          </a:prstGeom>
          <a:solidFill>
            <a:srgbClr val="B9D9C3"/>
          </a:solidFill>
          <a:ln w="19050">
            <a:solidFill>
              <a:srgbClr val="FFFFFF"/>
            </a:solidFill>
            <a:prstDash val="solid"/>
          </a:ln>
        </p:spPr>
      </p:sp>
      <p:sp>
        <p:nvSpPr>
          <p:cNvPr id="5" name="Shape 3"/>
          <p:cNvSpPr/>
          <p:nvPr/>
        </p:nvSpPr>
        <p:spPr>
          <a:xfrm>
            <a:off x="2400300" y="4206240"/>
            <a:ext cx="1691640" cy="1691640"/>
          </a:xfrm>
          <a:prstGeom prst="ellipse">
            <a:avLst/>
          </a:prstGeom>
          <a:solidFill>
            <a:srgbClr val="2C6041"/>
          </a:solidFill>
          <a:ln w="19050">
            <a:solidFill>
              <a:srgbClr val="FFFFFF"/>
            </a:solidFill>
            <a:prstDash val="solid"/>
          </a:ln>
        </p:spPr>
      </p:sp>
      <p:sp>
        <p:nvSpPr>
          <p:cNvPr id="6" name="Text 4"/>
          <p:cNvSpPr txBox="1"/>
          <p:nvPr/>
        </p:nvSpPr>
        <p:spPr>
          <a:xfrm>
            <a:off x="2331720" y="1920240"/>
            <a:ext cx="1828800" cy="457200"/>
          </a:xfrm>
          <a:prstGeom prst="rect">
            <a:avLst/>
          </a:prstGeom>
          <a:noFill/>
          <a:ln/>
        </p:spPr>
        <p:txBody>
          <a:bodyPr wrap="square" lIns="0" tIns="0" rIns="0" bIns="0" rtlCol="0" anchor="t"/>
          <a:lstStyle/>
          <a:p>
            <a:pPr algn="ctr" indent="0" marL="0">
              <a:buNone/>
            </a:pPr>
            <a:r>
              <a:rPr lang="en-US" sz="2400" b="1" dirty="0">
                <a:solidFill>
                  <a:srgbClr val="2C6041"/>
                </a:solidFill>
                <a:latin typeface="Arial" pitchFamily="34" charset="0"/>
                <a:ea typeface="Arial" pitchFamily="34" charset="-122"/>
                <a:cs typeface="Arial" pitchFamily="34" charset="-120"/>
              </a:rPr>
              <a:t>TAM</a:t>
            </a:r>
            <a:endParaRPr lang="en-US" sz="2400" dirty="0"/>
          </a:p>
        </p:txBody>
      </p:sp>
      <p:sp>
        <p:nvSpPr>
          <p:cNvPr id="7" name="Text 5"/>
          <p:cNvSpPr txBox="1"/>
          <p:nvPr/>
        </p:nvSpPr>
        <p:spPr>
          <a:xfrm>
            <a:off x="2331720" y="3108960"/>
            <a:ext cx="1828800" cy="457200"/>
          </a:xfrm>
          <a:prstGeom prst="rect">
            <a:avLst/>
          </a:prstGeom>
          <a:noFill/>
          <a:ln/>
        </p:spPr>
        <p:txBody>
          <a:bodyPr wrap="square" lIns="0" tIns="0" rIns="0" bIns="0" rtlCol="0" anchor="t"/>
          <a:lstStyle/>
          <a:p>
            <a:pPr algn="ctr" indent="0" marL="0">
              <a:buNone/>
            </a:pPr>
            <a:r>
              <a:rPr lang="en-US" sz="2400" b="1" dirty="0">
                <a:solidFill>
                  <a:srgbClr val="224B33"/>
                </a:solidFill>
                <a:latin typeface="Arial" pitchFamily="34" charset="0"/>
                <a:ea typeface="Arial" pitchFamily="34" charset="-122"/>
                <a:cs typeface="Arial" pitchFamily="34" charset="-120"/>
              </a:rPr>
              <a:t>SAM</a:t>
            </a:r>
            <a:endParaRPr lang="en-US" sz="2400" dirty="0"/>
          </a:p>
        </p:txBody>
      </p:sp>
      <p:sp>
        <p:nvSpPr>
          <p:cNvPr id="8" name="Text 6"/>
          <p:cNvSpPr txBox="1"/>
          <p:nvPr/>
        </p:nvSpPr>
        <p:spPr>
          <a:xfrm>
            <a:off x="2331720" y="4773168"/>
            <a:ext cx="1828800" cy="50292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SOM</a:t>
            </a:r>
            <a:endParaRPr lang="en-US" sz="2400" dirty="0"/>
          </a:p>
        </p:txBody>
      </p:sp>
      <p:sp>
        <p:nvSpPr>
          <p:cNvPr id="9" name="Text 7"/>
          <p:cNvSpPr txBox="1"/>
          <p:nvPr/>
        </p:nvSpPr>
        <p:spPr>
          <a:xfrm>
            <a:off x="6035040" y="1371600"/>
            <a:ext cx="5608015" cy="731520"/>
          </a:xfrm>
          <a:prstGeom prst="rect">
            <a:avLst/>
          </a:prstGeom>
          <a:noFill/>
          <a:ln/>
        </p:spPr>
        <p:txBody>
          <a:bodyPr wrap="square" lIns="0" tIns="0" rIns="0" bIns="0" rtlCol="0" anchor="b"/>
          <a:lstStyle/>
          <a:p>
            <a:pPr indent="0" marL="0">
              <a:buNone/>
            </a:pPr>
            <a:r>
              <a:rPr lang="en-US" sz="4400" b="1" dirty="0">
                <a:solidFill>
                  <a:srgbClr val="2B2A28"/>
                </a:solidFill>
                <a:latin typeface="Arial" pitchFamily="34" charset="0"/>
                <a:ea typeface="Arial" pitchFamily="34" charset="-122"/>
                <a:cs typeface="Arial" pitchFamily="34" charset="-120"/>
              </a:rPr>
              <a:t>25,5 Mio €</a:t>
            </a:r>
            <a:endParaRPr lang="en-US" sz="4400" dirty="0"/>
          </a:p>
        </p:txBody>
      </p:sp>
      <p:sp>
        <p:nvSpPr>
          <p:cNvPr id="10" name="Text 8"/>
          <p:cNvSpPr txBox="1"/>
          <p:nvPr/>
        </p:nvSpPr>
        <p:spPr>
          <a:xfrm>
            <a:off x="6035040" y="2121408"/>
            <a:ext cx="5608015" cy="5943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1.060.614 Erwachsene (20–64) in München × 30 % kreativ aktiv × 80 € pro Jahr</a:t>
            </a:r>
            <a:endParaRPr lang="en-US" sz="1600" dirty="0"/>
          </a:p>
        </p:txBody>
      </p:sp>
      <p:sp>
        <p:nvSpPr>
          <p:cNvPr id="11" name="Text 9"/>
          <p:cNvSpPr txBox="1"/>
          <p:nvPr/>
        </p:nvSpPr>
        <p:spPr>
          <a:xfrm>
            <a:off x="6035040" y="2715768"/>
            <a:ext cx="5608015" cy="731520"/>
          </a:xfrm>
          <a:prstGeom prst="rect">
            <a:avLst/>
          </a:prstGeom>
          <a:noFill/>
          <a:ln/>
        </p:spPr>
        <p:txBody>
          <a:bodyPr wrap="square" lIns="0" tIns="0" rIns="0" bIns="0" rtlCol="0" anchor="b"/>
          <a:lstStyle/>
          <a:p>
            <a:pPr indent="0" marL="0">
              <a:buNone/>
            </a:pPr>
            <a:r>
              <a:rPr lang="en-US" sz="4400" b="1" dirty="0">
                <a:solidFill>
                  <a:srgbClr val="2B2A28"/>
                </a:solidFill>
                <a:latin typeface="Arial" pitchFamily="34" charset="0"/>
                <a:ea typeface="Arial" pitchFamily="34" charset="-122"/>
                <a:cs typeface="Arial" pitchFamily="34" charset="-120"/>
              </a:rPr>
              <a:t>15,3 Mio €</a:t>
            </a:r>
            <a:endParaRPr lang="en-US" sz="4400" dirty="0"/>
          </a:p>
        </p:txBody>
      </p:sp>
      <p:sp>
        <p:nvSpPr>
          <p:cNvPr id="12" name="Text 10"/>
          <p:cNvSpPr txBox="1"/>
          <p:nvPr/>
        </p:nvSpPr>
        <p:spPr>
          <a:xfrm>
            <a:off x="6035040" y="3465576"/>
            <a:ext cx="5608015" cy="5943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 60 % offen für das Angebot = 190.911 Personen</a:t>
            </a:r>
            <a:endParaRPr lang="en-US" sz="1600" dirty="0"/>
          </a:p>
        </p:txBody>
      </p:sp>
      <p:sp>
        <p:nvSpPr>
          <p:cNvPr id="13" name="Text 11"/>
          <p:cNvSpPr txBox="1"/>
          <p:nvPr/>
        </p:nvSpPr>
        <p:spPr>
          <a:xfrm>
            <a:off x="6035040" y="4059936"/>
            <a:ext cx="5608015" cy="731520"/>
          </a:xfrm>
          <a:prstGeom prst="rect">
            <a:avLst/>
          </a:prstGeom>
          <a:noFill/>
          <a:ln/>
        </p:spPr>
        <p:txBody>
          <a:bodyPr wrap="square" lIns="0" tIns="0" rIns="0" bIns="0" rtlCol="0" anchor="b"/>
          <a:lstStyle/>
          <a:p>
            <a:pPr indent="0" marL="0">
              <a:buNone/>
            </a:pPr>
            <a:r>
              <a:rPr lang="en-US" sz="4400" b="1" dirty="0">
                <a:solidFill>
                  <a:srgbClr val="2C6041"/>
                </a:solidFill>
                <a:latin typeface="Arial" pitchFamily="34" charset="0"/>
                <a:ea typeface="Arial" pitchFamily="34" charset="-122"/>
                <a:cs typeface="Arial" pitchFamily="34" charset="-120"/>
              </a:rPr>
              <a:t>1,79 Mio €</a:t>
            </a:r>
            <a:endParaRPr lang="en-US" sz="4400" dirty="0"/>
          </a:p>
        </p:txBody>
      </p:sp>
      <p:sp>
        <p:nvSpPr>
          <p:cNvPr id="14" name="Text 12"/>
          <p:cNvSpPr txBox="1"/>
          <p:nvPr/>
        </p:nvSpPr>
        <p:spPr>
          <a:xfrm>
            <a:off x="6035040" y="4809744"/>
            <a:ext cx="5608015" cy="5943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21.000 Kund:innen (11 %) · 28.966 Teilnahmen → 1,41 Mio € Kurse + 0,38 Mio € Firmenevents (netto)</a:t>
            </a:r>
            <a:endParaRPr lang="en-US" sz="1600" dirty="0"/>
          </a:p>
        </p:txBody>
      </p:sp>
      <p:sp>
        <p:nvSpPr>
          <p:cNvPr id="15" name="Text 13"/>
          <p:cNvSpPr txBox="1"/>
          <p:nvPr/>
        </p:nvSpPr>
        <p:spPr>
          <a:xfrm>
            <a:off x="6035040" y="5596128"/>
            <a:ext cx="5608015" cy="502920"/>
          </a:xfrm>
          <a:prstGeom prst="rect">
            <a:avLst/>
          </a:prstGeom>
          <a:noFill/>
          <a:ln/>
        </p:spPr>
        <p:txBody>
          <a:bodyPr wrap="square" lIns="0" tIns="0" rIns="0" bIns="0" rtlCol="0" anchor="t"/>
          <a:lstStyle/>
          <a:p>
            <a:pPr indent="0" marL="0">
              <a:buNone/>
            </a:pPr>
            <a:r>
              <a:rPr lang="en-US" sz="1000" dirty="0">
                <a:solidFill>
                  <a:srgbClr val="5F5A52"/>
                </a:solidFill>
                <a:latin typeface="Arial" pitchFamily="34" charset="0"/>
                <a:ea typeface="Arial" pitchFamily="34" charset="-122"/>
                <a:cs typeface="Arial" pitchFamily="34" charset="-120"/>
              </a:rPr>
              <a:t>Quellen: Landeshauptstadt München, Münchner Statistik, 1. Quartalsheft 2026 (Einwohner, Altersanteil – amtlich); Eurostat, Culture statistics (34,5 % künstlerisch aktiv, EU 2015). Anteile 30 % / 60 % / 11 % und 80 € p. a. sind Annahmen.</a:t>
            </a:r>
            <a:endParaRPr lang="en-US" sz="1000" dirty="0"/>
          </a:p>
        </p:txBody>
      </p:sp>
      <p:sp>
        <p:nvSpPr>
          <p:cNvPr id="16" name="Text 14"/>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C] · Folie 5/10 · 0:30 (1:55–2:25)</a:t>
            </a:r>
            <a:endParaRPr lang="en-US" sz="1100" dirty="0"/>
          </a:p>
        </p:txBody>
      </p:sp>
      <p:sp>
        <p:nvSpPr>
          <p:cNvPr id="17" name="Text 15"/>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10058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Ab 5,3 Personen pro Kurs verdienen wir Geld – Amortisation in Jahr 3.</a:t>
            </a:r>
            <a:endParaRPr lang="en-US" sz="3200" dirty="0"/>
          </a:p>
        </p:txBody>
      </p:sp>
      <p:sp>
        <p:nvSpPr>
          <p:cNvPr id="3" name="Shape 1"/>
          <p:cNvSpPr/>
          <p:nvPr/>
        </p:nvSpPr>
        <p:spPr>
          <a:xfrm>
            <a:off x="548640" y="1600200"/>
            <a:ext cx="6675120" cy="3566160"/>
          </a:xfrm>
          <a:prstGeom prst="roundRect">
            <a:avLst>
              <a:gd name="adj" fmla="val 3846"/>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graphicFrame>
        <p:nvGraphicFramePr>
          <p:cNvPr id="4" name="Chart 0" descr=""/>
          <p:cNvGraphicFramePr/>
          <p:nvPr/>
        </p:nvGraphicFramePr>
        <p:xfrm>
          <a:off x="685800" y="1691640"/>
          <a:ext cx="64008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303520"/>
            <a:ext cx="6675120" cy="274320"/>
          </a:xfrm>
          <a:prstGeom prst="rect">
            <a:avLst/>
          </a:prstGeom>
          <a:noFill/>
          <a:ln/>
        </p:spPr>
        <p:txBody>
          <a:bodyPr wrap="square" lIns="0" tIns="0" rIns="0" bIns="0" rtlCol="0" anchor="t"/>
          <a:lstStyle/>
          <a:p>
            <a:pPr indent="0" marL="0">
              <a:buNone/>
            </a:pPr>
            <a:r>
              <a:rPr lang="en-US" sz="1400" dirty="0">
                <a:solidFill>
                  <a:srgbClr val="5F5A52"/>
                </a:solidFill>
                <a:latin typeface="Arial" pitchFamily="34" charset="0"/>
                <a:ea typeface="Arial" pitchFamily="34" charset="-122"/>
                <a:cs typeface="Arial" pitchFamily="34" charset="-120"/>
              </a:rPr>
              <a:t>Kum. Cashflow positiv ab Jahr 3 (+326 T€) · Kapitalbedarf Start 1,17 Mio €</a:t>
            </a:r>
            <a:endParaRPr lang="en-US" sz="1400" dirty="0"/>
          </a:p>
        </p:txBody>
      </p:sp>
      <p:sp>
        <p:nvSpPr>
          <p:cNvPr id="6" name="Text 3"/>
          <p:cNvSpPr txBox="1"/>
          <p:nvPr/>
        </p:nvSpPr>
        <p:spPr>
          <a:xfrm>
            <a:off x="7589520" y="1554480"/>
            <a:ext cx="4053535"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5,3 Pers.</a:t>
            </a:r>
            <a:endParaRPr lang="en-US" sz="4800" dirty="0"/>
          </a:p>
        </p:txBody>
      </p:sp>
      <p:sp>
        <p:nvSpPr>
          <p:cNvPr id="7" name="Text 4"/>
          <p:cNvSpPr txBox="1"/>
          <p:nvPr/>
        </p:nvSpPr>
        <p:spPr>
          <a:xfrm>
            <a:off x="7589520" y="2331720"/>
            <a:ext cx="4053535" cy="54864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Break-even pro Kurs = 26,6 % Auslastung · Plan: 11 (55 %)</a:t>
            </a:r>
            <a:endParaRPr lang="en-US" sz="1600" dirty="0"/>
          </a:p>
        </p:txBody>
      </p:sp>
      <p:sp>
        <p:nvSpPr>
          <p:cNvPr id="8" name="Text 5"/>
          <p:cNvSpPr txBox="1"/>
          <p:nvPr/>
        </p:nvSpPr>
        <p:spPr>
          <a:xfrm>
            <a:off x="7589520" y="3017520"/>
            <a:ext cx="1935328" cy="502920"/>
          </a:xfrm>
          <a:prstGeom prst="rect">
            <a:avLst/>
          </a:prstGeom>
          <a:noFill/>
          <a:ln/>
        </p:spPr>
        <p:txBody>
          <a:bodyPr wrap="square" lIns="0" tIns="0" rIns="0" bIns="0" rtlCol="0" anchor="b"/>
          <a:lstStyle/>
          <a:p>
            <a:pPr indent="0" marL="0">
              <a:buNone/>
            </a:pPr>
            <a:r>
              <a:rPr lang="en-US" sz="3000" b="1" dirty="0">
                <a:solidFill>
                  <a:srgbClr val="2B2A28"/>
                </a:solidFill>
                <a:latin typeface="Arial" pitchFamily="34" charset="0"/>
                <a:ea typeface="Arial" pitchFamily="34" charset="-122"/>
                <a:cs typeface="Arial" pitchFamily="34" charset="-120"/>
              </a:rPr>
              <a:t>39,22 €</a:t>
            </a:r>
            <a:endParaRPr lang="en-US" sz="3000" dirty="0"/>
          </a:p>
        </p:txBody>
      </p:sp>
      <p:sp>
        <p:nvSpPr>
          <p:cNvPr id="9" name="Text 6"/>
          <p:cNvSpPr txBox="1"/>
          <p:nvPr/>
        </p:nvSpPr>
        <p:spPr>
          <a:xfrm>
            <a:off x="7589520" y="3566160"/>
            <a:ext cx="1935328" cy="68580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Deckungsbeitrag pro Person (Kreativkurs)</a:t>
            </a:r>
            <a:endParaRPr lang="en-US" sz="1600" dirty="0"/>
          </a:p>
        </p:txBody>
      </p:sp>
      <p:sp>
        <p:nvSpPr>
          <p:cNvPr id="10" name="Text 7"/>
          <p:cNvSpPr txBox="1"/>
          <p:nvPr/>
        </p:nvSpPr>
        <p:spPr>
          <a:xfrm>
            <a:off x="9707728" y="3017520"/>
            <a:ext cx="1935328" cy="502920"/>
          </a:xfrm>
          <a:prstGeom prst="rect">
            <a:avLst/>
          </a:prstGeom>
          <a:noFill/>
          <a:ln/>
        </p:spPr>
        <p:txBody>
          <a:bodyPr wrap="square" lIns="0" tIns="0" rIns="0" bIns="0" rtlCol="0" anchor="b"/>
          <a:lstStyle/>
          <a:p>
            <a:pPr indent="0" marL="0">
              <a:buNone/>
            </a:pPr>
            <a:r>
              <a:rPr lang="en-US" sz="3000" b="1" dirty="0">
                <a:solidFill>
                  <a:srgbClr val="2B2A28"/>
                </a:solidFill>
                <a:latin typeface="Arial" pitchFamily="34" charset="0"/>
                <a:ea typeface="Arial" pitchFamily="34" charset="-122"/>
                <a:cs typeface="Arial" pitchFamily="34" charset="-120"/>
              </a:rPr>
              <a:t>80.308 €</a:t>
            </a:r>
            <a:endParaRPr lang="en-US" sz="3000" dirty="0"/>
          </a:p>
        </p:txBody>
      </p:sp>
      <p:sp>
        <p:nvSpPr>
          <p:cNvPr id="11" name="Text 8"/>
          <p:cNvSpPr txBox="1"/>
          <p:nvPr/>
        </p:nvSpPr>
        <p:spPr>
          <a:xfrm>
            <a:off x="9707728" y="3566160"/>
            <a:ext cx="1935328" cy="68580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Fixkosten pro Monat inkl. AfA</a:t>
            </a:r>
            <a:endParaRPr lang="en-US" sz="1600" dirty="0"/>
          </a:p>
        </p:txBody>
      </p:sp>
      <p:sp>
        <p:nvSpPr>
          <p:cNvPr id="12" name="Text 9"/>
          <p:cNvSpPr txBox="1"/>
          <p:nvPr/>
        </p:nvSpPr>
        <p:spPr>
          <a:xfrm>
            <a:off x="7589520" y="4343400"/>
            <a:ext cx="4053535" cy="274320"/>
          </a:xfrm>
          <a:prstGeom prst="rect">
            <a:avLst/>
          </a:prstGeom>
          <a:noFill/>
          <a:ln/>
        </p:spPr>
        <p:txBody>
          <a:bodyPr wrap="square" lIns="0" tIns="0" rIns="0" bIns="0" rtlCol="0" anchor="t"/>
          <a:lstStyle/>
          <a:p>
            <a:pPr indent="0" marL="0">
              <a:buNone/>
            </a:pPr>
            <a:r>
              <a:rPr lang="en-US" sz="1600" b="1" dirty="0">
                <a:solidFill>
                  <a:srgbClr val="2C6041"/>
                </a:solidFill>
                <a:latin typeface="Arial" pitchFamily="34" charset="0"/>
                <a:ea typeface="Arial" pitchFamily="34" charset="-122"/>
                <a:cs typeface="Arial" pitchFamily="34" charset="-120"/>
              </a:rPr>
              <a:t>Erlösquellen</a:t>
            </a:r>
            <a:endParaRPr lang="en-US" sz="1600" dirty="0"/>
          </a:p>
        </p:txBody>
      </p:sp>
      <p:sp>
        <p:nvSpPr>
          <p:cNvPr id="13" name="Text 10"/>
          <p:cNvSpPr txBox="1"/>
          <p:nvPr/>
        </p:nvSpPr>
        <p:spPr>
          <a:xfrm>
            <a:off x="7589520" y="4663440"/>
            <a:ext cx="4053535" cy="128016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rgbClr val="2B2A28"/>
                </a:solidFill>
                <a:latin typeface="Arial" pitchFamily="34" charset="0"/>
                <a:ea typeface="Arial" pitchFamily="34" charset="-122"/>
                <a:cs typeface="Arial" pitchFamily="34" charset="-120"/>
              </a:rPr>
              <a:t>Kurs-Tickets 25–129 € (Ø 61,88 €)</a:t>
            </a:r>
            <a:endParaRPr lang="en-US" sz="1600" dirty="0"/>
          </a:p>
          <a:p>
            <a:pPr marL="342900" indent="-342900">
              <a:spcAft>
                <a:spcPts val="300"/>
              </a:spcAft>
              <a:buSzPct val="100000"/>
              <a:buChar char="•"/>
            </a:pPr>
            <a:r>
              <a:rPr lang="en-US" sz="1600" dirty="0">
                <a:solidFill>
                  <a:srgbClr val="2B2A28"/>
                </a:solidFill>
                <a:latin typeface="Arial" pitchFamily="34" charset="0"/>
                <a:ea typeface="Arial" pitchFamily="34" charset="-122"/>
                <a:cs typeface="Arial" pitchFamily="34" charset="-120"/>
              </a:rPr>
              <a:t>Firmen-Teamevents 8.000 € netto</a:t>
            </a:r>
            <a:endParaRPr lang="en-US" sz="1600" dirty="0"/>
          </a:p>
          <a:p>
            <a:pPr marL="342900" indent="-342900">
              <a:spcAft>
                <a:spcPts val="300"/>
              </a:spcAft>
              <a:buSzPct val="100000"/>
              <a:buChar char="•"/>
            </a:pPr>
            <a:r>
              <a:rPr lang="en-US" sz="1600" dirty="0">
                <a:solidFill>
                  <a:srgbClr val="2B2A28"/>
                </a:solidFill>
                <a:latin typeface="Arial" pitchFamily="34" charset="0"/>
                <a:ea typeface="Arial" pitchFamily="34" charset="-122"/>
                <a:cs typeface="Arial" pitchFamily="34" charset="-120"/>
              </a:rPr>
              <a:t>Marken- &amp; Leuchtturm-Events (499 €)</a:t>
            </a:r>
            <a:endParaRPr lang="en-US" sz="1600" dirty="0"/>
          </a:p>
          <a:p>
            <a:pPr marL="342900" indent="-342900">
              <a:spcAft>
                <a:spcPts val="300"/>
              </a:spcAft>
              <a:buSzPct val="100000"/>
              <a:buChar char="•"/>
            </a:pPr>
            <a:r>
              <a:rPr lang="en-US" sz="1600" dirty="0">
                <a:solidFill>
                  <a:srgbClr val="2B2A28"/>
                </a:solidFill>
                <a:latin typeface="Arial" pitchFamily="34" charset="0"/>
                <a:ea typeface="Arial" pitchFamily="34" charset="-122"/>
                <a:cs typeface="Arial" pitchFamily="34" charset="-120"/>
              </a:rPr>
              <a:t>Bundles, Abos, Gastro 3.000 €/Mon.</a:t>
            </a:r>
            <a:endParaRPr lang="en-US" sz="1600" dirty="0"/>
          </a:p>
        </p:txBody>
      </p:sp>
      <p:sp>
        <p:nvSpPr>
          <p:cNvPr id="14" name="Text 11"/>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C] · Folie 6/10 · 0:40 (2:25–3:05)</a:t>
            </a:r>
            <a:endParaRPr lang="en-US" sz="1100" dirty="0"/>
          </a:p>
        </p:txBody>
      </p:sp>
      <p:sp>
        <p:nvSpPr>
          <p:cNvPr id="15" name="Text 12"/>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5486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Andere lösen ein Stück – wir bündeln alles an einem Ort.</a:t>
            </a:r>
            <a:endParaRPr lang="en-US" sz="3200" dirty="0"/>
          </a:p>
        </p:txBody>
      </p:sp>
      <p:sp>
        <p:nvSpPr>
          <p:cNvPr id="3" name="Shape 1"/>
          <p:cNvSpPr/>
          <p:nvPr/>
        </p:nvSpPr>
        <p:spPr>
          <a:xfrm>
            <a:off x="2834640" y="1572768"/>
            <a:ext cx="3017520" cy="1298448"/>
          </a:xfrm>
          <a:prstGeom prst="ellipse">
            <a:avLst/>
          </a:prstGeom>
          <a:solidFill>
            <a:srgbClr val="E4EFE8"/>
          </a:solidFill>
          <a:ln w="12700">
            <a:solidFill>
              <a:srgbClr val="B9D9C3"/>
            </a:solidFill>
            <a:prstDash val="solid"/>
          </a:ln>
        </p:spPr>
      </p:sp>
      <p:sp>
        <p:nvSpPr>
          <p:cNvPr id="4" name="Shape 2"/>
          <p:cNvSpPr/>
          <p:nvPr/>
        </p:nvSpPr>
        <p:spPr>
          <a:xfrm>
            <a:off x="5074920" y="2359152"/>
            <a:ext cx="3017520" cy="1298448"/>
          </a:xfrm>
          <a:prstGeom prst="ellipse">
            <a:avLst/>
          </a:prstGeom>
          <a:solidFill>
            <a:srgbClr val="E4EFE8"/>
          </a:solidFill>
          <a:ln w="12700">
            <a:solidFill>
              <a:srgbClr val="B9D9C3"/>
            </a:solidFill>
            <a:prstDash val="solid"/>
          </a:ln>
        </p:spPr>
      </p:sp>
      <p:sp>
        <p:nvSpPr>
          <p:cNvPr id="5" name="Shape 3"/>
          <p:cNvSpPr/>
          <p:nvPr/>
        </p:nvSpPr>
        <p:spPr>
          <a:xfrm>
            <a:off x="5074920" y="3931920"/>
            <a:ext cx="3017520" cy="1298448"/>
          </a:xfrm>
          <a:prstGeom prst="ellipse">
            <a:avLst/>
          </a:prstGeom>
          <a:solidFill>
            <a:srgbClr val="E4EFE8"/>
          </a:solidFill>
          <a:ln w="12700">
            <a:solidFill>
              <a:srgbClr val="B9D9C3"/>
            </a:solidFill>
            <a:prstDash val="solid"/>
          </a:ln>
        </p:spPr>
      </p:sp>
      <p:sp>
        <p:nvSpPr>
          <p:cNvPr id="6" name="Shape 4"/>
          <p:cNvSpPr/>
          <p:nvPr/>
        </p:nvSpPr>
        <p:spPr>
          <a:xfrm>
            <a:off x="2834640" y="4718304"/>
            <a:ext cx="3017520" cy="1298448"/>
          </a:xfrm>
          <a:prstGeom prst="ellipse">
            <a:avLst/>
          </a:prstGeom>
          <a:solidFill>
            <a:srgbClr val="E4EFE8"/>
          </a:solidFill>
          <a:ln w="12700">
            <a:solidFill>
              <a:srgbClr val="B9D9C3"/>
            </a:solidFill>
            <a:prstDash val="solid"/>
          </a:ln>
        </p:spPr>
      </p:sp>
      <p:sp>
        <p:nvSpPr>
          <p:cNvPr id="7" name="Shape 5"/>
          <p:cNvSpPr/>
          <p:nvPr/>
        </p:nvSpPr>
        <p:spPr>
          <a:xfrm>
            <a:off x="594360" y="3931920"/>
            <a:ext cx="3017520" cy="1298448"/>
          </a:xfrm>
          <a:prstGeom prst="ellipse">
            <a:avLst/>
          </a:prstGeom>
          <a:solidFill>
            <a:srgbClr val="E4EFE8"/>
          </a:solidFill>
          <a:ln w="12700">
            <a:solidFill>
              <a:srgbClr val="B9D9C3"/>
            </a:solidFill>
            <a:prstDash val="solid"/>
          </a:ln>
        </p:spPr>
      </p:sp>
      <p:sp>
        <p:nvSpPr>
          <p:cNvPr id="8" name="Shape 6"/>
          <p:cNvSpPr/>
          <p:nvPr/>
        </p:nvSpPr>
        <p:spPr>
          <a:xfrm>
            <a:off x="594360" y="2359152"/>
            <a:ext cx="3017520" cy="1298448"/>
          </a:xfrm>
          <a:prstGeom prst="ellipse">
            <a:avLst/>
          </a:prstGeom>
          <a:solidFill>
            <a:srgbClr val="E4EFE8"/>
          </a:solidFill>
          <a:ln w="12700">
            <a:solidFill>
              <a:srgbClr val="B9D9C3"/>
            </a:solidFill>
            <a:prstDash val="solid"/>
          </a:ln>
        </p:spPr>
      </p:sp>
      <p:sp>
        <p:nvSpPr>
          <p:cNvPr id="9" name="Shape 7"/>
          <p:cNvSpPr/>
          <p:nvPr/>
        </p:nvSpPr>
        <p:spPr>
          <a:xfrm>
            <a:off x="3383280" y="2834640"/>
            <a:ext cx="1920240" cy="1920240"/>
          </a:xfrm>
          <a:prstGeom prst="ellipse">
            <a:avLst/>
          </a:prstGeom>
          <a:solidFill>
            <a:srgbClr val="2C6041"/>
          </a:solidFill>
          <a:ln w="38100">
            <a:solidFill>
              <a:srgbClr val="FFFFFF"/>
            </a:solidFill>
            <a:prstDash val="solid"/>
          </a:ln>
          <a:effectLst>
            <a:outerShdw sx="100000" sy="100000" kx="0" ky="0" algn="bl" rotWithShape="0" blurRad="127000" dist="38100" dir="5400000">
              <a:srgbClr val="000000">
                <a:alpha val="18000"/>
              </a:srgbClr>
            </a:outerShdw>
          </a:effectLst>
        </p:spPr>
      </p:sp>
      <p:sp>
        <p:nvSpPr>
          <p:cNvPr id="10" name="Text 8"/>
          <p:cNvSpPr txBox="1"/>
          <p:nvPr/>
        </p:nvSpPr>
        <p:spPr>
          <a:xfrm>
            <a:off x="3383280" y="3520440"/>
            <a:ext cx="19202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Atelierhaus</a:t>
            </a:r>
            <a:endParaRPr lang="en-US" sz="2000" dirty="0"/>
          </a:p>
        </p:txBody>
      </p:sp>
      <p:sp>
        <p:nvSpPr>
          <p:cNvPr id="11" name="Text 9"/>
          <p:cNvSpPr txBox="1"/>
          <p:nvPr/>
        </p:nvSpPr>
        <p:spPr>
          <a:xfrm>
            <a:off x="3108960" y="1682496"/>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Kreativstudios</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Paint your Style, froh+bunter, Töpfer</a:t>
            </a:r>
            <a:endParaRPr lang="en-US" sz="1600" dirty="0"/>
          </a:p>
        </p:txBody>
      </p:sp>
      <p:sp>
        <p:nvSpPr>
          <p:cNvPr id="12" name="Text 10"/>
          <p:cNvSpPr txBox="1"/>
          <p:nvPr/>
        </p:nvSpPr>
        <p:spPr>
          <a:xfrm>
            <a:off x="5349240" y="2468880"/>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Kurs-Marktplätze</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gokonfetti</a:t>
            </a:r>
            <a:endParaRPr lang="en-US" sz="1600" dirty="0"/>
          </a:p>
        </p:txBody>
      </p:sp>
      <p:sp>
        <p:nvSpPr>
          <p:cNvPr id="13" name="Text 11"/>
          <p:cNvSpPr txBox="1"/>
          <p:nvPr/>
        </p:nvSpPr>
        <p:spPr>
          <a:xfrm>
            <a:off x="5349240" y="4041648"/>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Teamevent-Agenturen</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z. B. hirschfeld.de</a:t>
            </a:r>
            <a:endParaRPr lang="en-US" sz="1600" dirty="0"/>
          </a:p>
        </p:txBody>
      </p:sp>
      <p:sp>
        <p:nvSpPr>
          <p:cNvPr id="14" name="Text 12"/>
          <p:cNvSpPr txBox="1"/>
          <p:nvPr/>
        </p:nvSpPr>
        <p:spPr>
          <a:xfrm>
            <a:off x="3108960" y="4828032"/>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Kochschulen, VHS, Vereine</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alles einzeln buchen</a:t>
            </a:r>
            <a:endParaRPr lang="en-US" sz="1600" dirty="0"/>
          </a:p>
        </p:txBody>
      </p:sp>
      <p:sp>
        <p:nvSpPr>
          <p:cNvPr id="15" name="Text 13"/>
          <p:cNvSpPr txBox="1"/>
          <p:nvPr/>
        </p:nvSpPr>
        <p:spPr>
          <a:xfrm>
            <a:off x="868680" y="4041648"/>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Zuhause</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DIY-Kits, Diamond Painting</a:t>
            </a:r>
            <a:endParaRPr lang="en-US" sz="1600" dirty="0"/>
          </a:p>
        </p:txBody>
      </p:sp>
      <p:sp>
        <p:nvSpPr>
          <p:cNvPr id="16" name="Text 14"/>
          <p:cNvSpPr txBox="1"/>
          <p:nvPr/>
        </p:nvSpPr>
        <p:spPr>
          <a:xfrm>
            <a:off x="868680" y="2468880"/>
            <a:ext cx="2468880" cy="1078992"/>
          </a:xfrm>
          <a:prstGeom prst="rect">
            <a:avLst/>
          </a:prstGeom>
          <a:noFill/>
          <a:ln/>
        </p:spPr>
        <p:txBody>
          <a:bodyPr wrap="square" lIns="0" tIns="0" rIns="0" bIns="0" rtlCol="0" anchor="ctr"/>
          <a:lstStyle/>
          <a:p>
            <a:pPr algn="ctr" indent="0" marL="0">
              <a:buNone/>
            </a:pPr>
            <a:r>
              <a:rPr lang="en-US" sz="1600" b="1" dirty="0">
                <a:solidFill>
                  <a:srgbClr val="2C6041"/>
                </a:solidFill>
                <a:latin typeface="Arial" pitchFamily="34" charset="0"/>
                <a:ea typeface="Arial" pitchFamily="34" charset="-122"/>
                <a:cs typeface="Arial" pitchFamily="34" charset="-120"/>
              </a:rPr>
              <a:t>Immer das Gleiche</a:t>
            </a:r>
            <a:endParaRPr lang="en-US" sz="1600" dirty="0"/>
          </a:p>
          <a:p>
            <a:pPr algn="ctr" indent="0" marL="0">
              <a:buNone/>
            </a:pPr>
            <a:r>
              <a:rPr lang="en-US" sz="1600" dirty="0">
                <a:solidFill>
                  <a:srgbClr val="2B2A28"/>
                </a:solidFill>
                <a:latin typeface="Arial" pitchFamily="34" charset="0"/>
                <a:ea typeface="Arial" pitchFamily="34" charset="-122"/>
                <a:cs typeface="Arial" pitchFamily="34" charset="-120"/>
              </a:rPr>
              <a:t>Bowling, Clubs, Shoppen</a:t>
            </a:r>
            <a:endParaRPr lang="en-US" sz="1600" dirty="0"/>
          </a:p>
        </p:txBody>
      </p:sp>
      <p:sp>
        <p:nvSpPr>
          <p:cNvPr id="17" name="Shape 15"/>
          <p:cNvSpPr/>
          <p:nvPr/>
        </p:nvSpPr>
        <p:spPr>
          <a:xfrm>
            <a:off x="8275320" y="1463040"/>
            <a:ext cx="3367735" cy="4526280"/>
          </a:xfrm>
          <a:prstGeom prst="roundRect">
            <a:avLst>
              <a:gd name="adj" fmla="val 4073"/>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8" name="Text 16"/>
          <p:cNvSpPr txBox="1"/>
          <p:nvPr/>
        </p:nvSpPr>
        <p:spPr>
          <a:xfrm>
            <a:off x="8549640" y="1691640"/>
            <a:ext cx="2819095" cy="4069080"/>
          </a:xfrm>
          <a:prstGeom prst="rect">
            <a:avLst/>
          </a:prstGeom>
          <a:noFill/>
          <a:ln/>
        </p:spPr>
        <p:txBody>
          <a:bodyPr wrap="square" lIns="0" tIns="0" rIns="0" bIns="0" rtlCol="0" anchor="ctr"/>
          <a:lstStyle/>
          <a:p>
            <a:pPr indent="0" marL="0">
              <a:buNone/>
            </a:pPr>
            <a:r>
              <a:rPr lang="en-US" sz="1800" dirty="0">
                <a:solidFill>
                  <a:srgbClr val="2B2A28"/>
                </a:solidFill>
                <a:latin typeface="Arial" pitchFamily="34" charset="0"/>
                <a:ea typeface="Arial" pitchFamily="34" charset="-122"/>
                <a:cs typeface="Arial" pitchFamily="34" charset="-120"/>
              </a:rPr>
              <a:t>Für Erwachsene, die nach Feierabend kreativ abschalten wollen, ist Atelierhaus eine Kreativ-Location, die </a:t>
            </a:r>
            <a:pPr indent="0" marL="0">
              <a:buNone/>
            </a:pPr>
            <a:r>
              <a:rPr lang="en-US" sz="1800" b="1" dirty="0">
                <a:solidFill>
                  <a:srgbClr val="2C6041"/>
                </a:solidFill>
                <a:latin typeface="Arial" pitchFamily="34" charset="0"/>
                <a:ea typeface="Arial" pitchFamily="34" charset="-122"/>
                <a:cs typeface="Arial" pitchFamily="34" charset="-120"/>
              </a:rPr>
              <a:t>11 Kursarten, Kochen und Bewegung unter einem Dach</a:t>
            </a:r>
            <a:pPr indent="0" marL="0">
              <a:buNone/>
            </a:pPr>
            <a:r>
              <a:rPr lang="en-US" sz="1800" dirty="0">
                <a:solidFill>
                  <a:srgbClr val="2B2A28"/>
                </a:solidFill>
                <a:latin typeface="Arial" pitchFamily="34" charset="0"/>
                <a:ea typeface="Arial" pitchFamily="34" charset="-122"/>
                <a:cs typeface="Arial" pitchFamily="34" charset="-120"/>
              </a:rPr>
              <a:t> bündelt.</a:t>
            </a:r>
            <a:endParaRPr lang="en-US" sz="1800" dirty="0"/>
          </a:p>
          <a:p>
            <a:pPr indent="0" marL="0">
              <a:buNone/>
            </a:pPr>
            <a:r>
              <a:rPr lang="en-US" sz="800" dirty="0">
                <a:solidFill>
                  <a:srgbClr val="2B2A28"/>
                </a:solidFill>
                <a:latin typeface="Arial" pitchFamily="34" charset="0"/>
                <a:ea typeface="Arial" pitchFamily="34" charset="-122"/>
                <a:cs typeface="Arial" pitchFamily="34" charset="-120"/>
              </a:rPr>
              <a:t> </a:t>
            </a:r>
            <a:endParaRPr lang="en-US" sz="1800" dirty="0"/>
          </a:p>
          <a:p>
            <a:pPr indent="0" marL="0">
              <a:buNone/>
            </a:pPr>
            <a:r>
              <a:rPr lang="en-US" sz="1800" dirty="0">
                <a:solidFill>
                  <a:srgbClr val="2B2A28"/>
                </a:solidFill>
                <a:latin typeface="Arial" pitchFamily="34" charset="0"/>
                <a:ea typeface="Arial" pitchFamily="34" charset="-122"/>
                <a:cs typeface="Arial" pitchFamily="34" charset="-120"/>
              </a:rPr>
              <a:t>Anders als Einzelstudios, VHS oder Agenturen bieten wir </a:t>
            </a:r>
            <a:pPr indent="0" marL="0">
              <a:buNone/>
            </a:pPr>
            <a:r>
              <a:rPr lang="en-US" sz="1800" b="1" dirty="0">
                <a:solidFill>
                  <a:srgbClr val="2C6041"/>
                </a:solidFill>
                <a:latin typeface="Arial" pitchFamily="34" charset="0"/>
                <a:ea typeface="Arial" pitchFamily="34" charset="-122"/>
                <a:cs typeface="Arial" pitchFamily="34" charset="-120"/>
              </a:rPr>
              <a:t>wechselndes Programm, Markenformate und Firmenevents</a:t>
            </a:r>
            <a:pPr indent="0" marL="0">
              <a:buNone/>
            </a:pPr>
            <a:r>
              <a:rPr lang="en-US" sz="1800" dirty="0">
                <a:solidFill>
                  <a:srgbClr val="2B2A28"/>
                </a:solidFill>
                <a:latin typeface="Arial" pitchFamily="34" charset="0"/>
                <a:ea typeface="Arial" pitchFamily="34" charset="-122"/>
                <a:cs typeface="Arial" pitchFamily="34" charset="-120"/>
              </a:rPr>
              <a:t> – an einem Ort, direkt buchbar.</a:t>
            </a:r>
            <a:endParaRPr lang="en-US" sz="1800" dirty="0"/>
          </a:p>
        </p:txBody>
      </p:sp>
      <p:sp>
        <p:nvSpPr>
          <p:cNvPr id="19" name="Text 17"/>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B] · Folie 7/10 · 0:25 (3:05–3:30)</a:t>
            </a:r>
            <a:endParaRPr lang="en-US" sz="1100" dirty="0"/>
          </a:p>
        </p:txBody>
      </p:sp>
      <p:sp>
        <p:nvSpPr>
          <p:cNvPr id="20" name="Text 18"/>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10058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Rund 552.000 € pro Jahr fließen an Künstler:innen und Kursleitungen der Region.</a:t>
            </a:r>
            <a:endParaRPr lang="en-US" sz="3200" dirty="0"/>
          </a:p>
        </p:txBody>
      </p:sp>
      <p:sp>
        <p:nvSpPr>
          <p:cNvPr id="3" name="Shape 1"/>
          <p:cNvSpPr/>
          <p:nvPr/>
        </p:nvSpPr>
        <p:spPr>
          <a:xfrm>
            <a:off x="548640" y="1783080"/>
            <a:ext cx="3484778" cy="4023360"/>
          </a:xfrm>
          <a:prstGeom prst="roundRect">
            <a:avLst>
              <a:gd name="adj" fmla="val 3936"/>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4" name="Shape 2"/>
          <p:cNvSpPr/>
          <p:nvPr/>
        </p:nvSpPr>
        <p:spPr>
          <a:xfrm>
            <a:off x="868680" y="2103120"/>
            <a:ext cx="685800" cy="685800"/>
          </a:xfrm>
          <a:prstGeom prst="ellipse">
            <a:avLst/>
          </a:prstGeom>
          <a:solidFill>
            <a:srgbClr val="E4EFE8"/>
          </a:solidFill>
          <a:ln/>
        </p:spPr>
      </p:sp>
      <p:pic>
        <p:nvPicPr>
          <p:cNvPr id="5" name="Image 0" descr="preencoded.png">    </p:cNvPr>
          <p:cNvPicPr>
            <a:picLocks noChangeAspect="1"/>
          </p:cNvPicPr>
          <p:nvPr/>
        </p:nvPicPr>
        <p:blipFill>
          <a:blip r:embed="rId1"/>
          <a:stretch>
            <a:fillRect/>
          </a:stretch>
        </p:blipFill>
        <p:spPr>
          <a:xfrm>
            <a:off x="1040130" y="2274570"/>
            <a:ext cx="342900" cy="342900"/>
          </a:xfrm>
          <a:prstGeom prst="rect">
            <a:avLst/>
          </a:prstGeom>
        </p:spPr>
      </p:pic>
      <p:sp>
        <p:nvSpPr>
          <p:cNvPr id="6" name="Text 3"/>
          <p:cNvSpPr txBox="1"/>
          <p:nvPr/>
        </p:nvSpPr>
        <p:spPr>
          <a:xfrm>
            <a:off x="1691640" y="2103120"/>
            <a:ext cx="2113178" cy="685800"/>
          </a:xfrm>
          <a:prstGeom prst="rect">
            <a:avLst/>
          </a:prstGeom>
          <a:noFill/>
          <a:ln/>
        </p:spPr>
        <p:txBody>
          <a:bodyPr wrap="square" lIns="0" tIns="0" rIns="0" bIns="0" rtlCol="0" anchor="ctr"/>
          <a:lstStyle/>
          <a:p>
            <a:pPr indent="0" marL="0">
              <a:buNone/>
            </a:pPr>
            <a:r>
              <a:rPr lang="en-US" sz="2200" b="1" dirty="0">
                <a:solidFill>
                  <a:srgbClr val="2C6041"/>
                </a:solidFill>
                <a:latin typeface="Arial" pitchFamily="34" charset="0"/>
                <a:ea typeface="Arial" pitchFamily="34" charset="-122"/>
                <a:cs typeface="Arial" pitchFamily="34" charset="-120"/>
              </a:rPr>
              <a:t>Kund:innen</a:t>
            </a:r>
            <a:endParaRPr lang="en-US" sz="2200" dirty="0"/>
          </a:p>
        </p:txBody>
      </p:sp>
      <p:sp>
        <p:nvSpPr>
          <p:cNvPr id="7" name="Text 4"/>
          <p:cNvSpPr txBox="1"/>
          <p:nvPr/>
        </p:nvSpPr>
        <p:spPr>
          <a:xfrm>
            <a:off x="868680" y="2971800"/>
            <a:ext cx="2844698" cy="777240"/>
          </a:xfrm>
          <a:prstGeom prst="rect">
            <a:avLst/>
          </a:prstGeom>
          <a:noFill/>
          <a:ln/>
        </p:spPr>
        <p:txBody>
          <a:bodyPr wrap="square" lIns="0" tIns="0" rIns="0" bIns="0" rtlCol="0" anchor="b"/>
          <a:lstStyle/>
          <a:p>
            <a:pPr indent="0" marL="0">
              <a:buNone/>
            </a:pPr>
            <a:r>
              <a:rPr lang="en-US" sz="4800" b="1" dirty="0">
                <a:solidFill>
                  <a:srgbClr val="2B2A28"/>
                </a:solidFill>
                <a:latin typeface="Arial" pitchFamily="34" charset="0"/>
                <a:ea typeface="Arial" pitchFamily="34" charset="-122"/>
                <a:cs typeface="Arial" pitchFamily="34" charset="-120"/>
              </a:rPr>
              <a:t>47</a:t>
            </a:r>
            <a:endParaRPr lang="en-US" sz="4800" dirty="0"/>
          </a:p>
        </p:txBody>
      </p:sp>
      <p:sp>
        <p:nvSpPr>
          <p:cNvPr id="8" name="Text 5"/>
          <p:cNvSpPr txBox="1"/>
          <p:nvPr/>
        </p:nvSpPr>
        <p:spPr>
          <a:xfrm>
            <a:off x="868680" y="3794760"/>
            <a:ext cx="2844698" cy="320040"/>
          </a:xfrm>
          <a:prstGeom prst="rect">
            <a:avLst/>
          </a:prstGeom>
          <a:noFill/>
          <a:ln/>
        </p:spPr>
        <p:txBody>
          <a:bodyPr wrap="square" lIns="0" tIns="0" rIns="0" bIns="0" rtlCol="0" anchor="t"/>
          <a:lstStyle/>
          <a:p>
            <a:pPr indent="0" marL="0">
              <a:buNone/>
            </a:pPr>
            <a:r>
              <a:rPr lang="en-US" sz="1800" b="1" dirty="0">
                <a:solidFill>
                  <a:srgbClr val="2C6041"/>
                </a:solidFill>
                <a:latin typeface="Arial" pitchFamily="34" charset="0"/>
                <a:ea typeface="Arial" pitchFamily="34" charset="-122"/>
                <a:cs typeface="Arial" pitchFamily="34" charset="-120"/>
              </a:rPr>
              <a:t>Community-Events p. a.</a:t>
            </a:r>
            <a:endParaRPr lang="en-US" sz="1800" dirty="0"/>
          </a:p>
        </p:txBody>
      </p:sp>
      <p:sp>
        <p:nvSpPr>
          <p:cNvPr id="9" name="Text 6"/>
          <p:cNvSpPr txBox="1"/>
          <p:nvPr/>
        </p:nvSpPr>
        <p:spPr>
          <a:xfrm>
            <a:off x="868680" y="4251960"/>
            <a:ext cx="2844698" cy="137160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Kreativer Ausgleich statt Routine – neue Leute kennenlernen über Gruppenformate, Lesungen, Ausstellungen, Networking.</a:t>
            </a:r>
            <a:endParaRPr lang="en-US" sz="1600" dirty="0"/>
          </a:p>
        </p:txBody>
      </p:sp>
      <p:sp>
        <p:nvSpPr>
          <p:cNvPr id="10" name="Shape 7"/>
          <p:cNvSpPr/>
          <p:nvPr/>
        </p:nvSpPr>
        <p:spPr>
          <a:xfrm>
            <a:off x="4353458" y="1783080"/>
            <a:ext cx="3484778" cy="4023360"/>
          </a:xfrm>
          <a:prstGeom prst="roundRect">
            <a:avLst>
              <a:gd name="adj" fmla="val 3936"/>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1" name="Shape 8"/>
          <p:cNvSpPr/>
          <p:nvPr/>
        </p:nvSpPr>
        <p:spPr>
          <a:xfrm>
            <a:off x="4673498" y="2103120"/>
            <a:ext cx="685800" cy="685800"/>
          </a:xfrm>
          <a:prstGeom prst="ellipse">
            <a:avLst/>
          </a:prstGeom>
          <a:solidFill>
            <a:srgbClr val="E4EFE8"/>
          </a:solidFill>
          <a:ln/>
        </p:spPr>
      </p:sp>
      <p:pic>
        <p:nvPicPr>
          <p:cNvPr id="12" name="Image 1" descr="preencoded.png">    </p:cNvPr>
          <p:cNvPicPr>
            <a:picLocks noChangeAspect="1"/>
          </p:cNvPicPr>
          <p:nvPr/>
        </p:nvPicPr>
        <p:blipFill>
          <a:blip r:embed="rId2"/>
          <a:stretch>
            <a:fillRect/>
          </a:stretch>
        </p:blipFill>
        <p:spPr>
          <a:xfrm>
            <a:off x="4844948" y="2274570"/>
            <a:ext cx="342900" cy="342900"/>
          </a:xfrm>
          <a:prstGeom prst="rect">
            <a:avLst/>
          </a:prstGeom>
        </p:spPr>
      </p:pic>
      <p:sp>
        <p:nvSpPr>
          <p:cNvPr id="13" name="Text 9"/>
          <p:cNvSpPr txBox="1"/>
          <p:nvPr/>
        </p:nvSpPr>
        <p:spPr>
          <a:xfrm>
            <a:off x="5496458" y="2103120"/>
            <a:ext cx="2113178" cy="685800"/>
          </a:xfrm>
          <a:prstGeom prst="rect">
            <a:avLst/>
          </a:prstGeom>
          <a:noFill/>
          <a:ln/>
        </p:spPr>
        <p:txBody>
          <a:bodyPr wrap="square" lIns="0" tIns="0" rIns="0" bIns="0" rtlCol="0" anchor="ctr"/>
          <a:lstStyle/>
          <a:p>
            <a:pPr indent="0" marL="0">
              <a:buNone/>
            </a:pPr>
            <a:r>
              <a:rPr lang="en-US" sz="2200" b="1" dirty="0">
                <a:solidFill>
                  <a:srgbClr val="2C6041"/>
                </a:solidFill>
                <a:latin typeface="Arial" pitchFamily="34" charset="0"/>
                <a:ea typeface="Arial" pitchFamily="34" charset="-122"/>
                <a:cs typeface="Arial" pitchFamily="34" charset="-120"/>
              </a:rPr>
              <a:t>Region</a:t>
            </a:r>
            <a:endParaRPr lang="en-US" sz="2200" dirty="0"/>
          </a:p>
        </p:txBody>
      </p:sp>
      <p:sp>
        <p:nvSpPr>
          <p:cNvPr id="14" name="Text 10"/>
          <p:cNvSpPr txBox="1"/>
          <p:nvPr/>
        </p:nvSpPr>
        <p:spPr>
          <a:xfrm>
            <a:off x="4673498" y="2971800"/>
            <a:ext cx="2844698" cy="777240"/>
          </a:xfrm>
          <a:prstGeom prst="rect">
            <a:avLst/>
          </a:prstGeom>
          <a:noFill/>
          <a:ln/>
        </p:spPr>
        <p:txBody>
          <a:bodyPr wrap="square" lIns="0" tIns="0" rIns="0" bIns="0" rtlCol="0" anchor="b"/>
          <a:lstStyle/>
          <a:p>
            <a:pPr indent="0" marL="0">
              <a:buNone/>
            </a:pPr>
            <a:r>
              <a:rPr lang="en-US" sz="4800" b="1" dirty="0">
                <a:solidFill>
                  <a:srgbClr val="2B2A28"/>
                </a:solidFill>
                <a:latin typeface="Arial" pitchFamily="34" charset="0"/>
                <a:ea typeface="Arial" pitchFamily="34" charset="-122"/>
                <a:cs typeface="Arial" pitchFamily="34" charset="-120"/>
              </a:rPr>
              <a:t>552.000 €</a:t>
            </a:r>
            <a:endParaRPr lang="en-US" sz="4800" dirty="0"/>
          </a:p>
        </p:txBody>
      </p:sp>
      <p:sp>
        <p:nvSpPr>
          <p:cNvPr id="15" name="Text 11"/>
          <p:cNvSpPr txBox="1"/>
          <p:nvPr/>
        </p:nvSpPr>
        <p:spPr>
          <a:xfrm>
            <a:off x="4673498" y="3794760"/>
            <a:ext cx="2844698" cy="320040"/>
          </a:xfrm>
          <a:prstGeom prst="rect">
            <a:avLst/>
          </a:prstGeom>
          <a:noFill/>
          <a:ln/>
        </p:spPr>
        <p:txBody>
          <a:bodyPr wrap="square" lIns="0" tIns="0" rIns="0" bIns="0" rtlCol="0" anchor="t"/>
          <a:lstStyle/>
          <a:p>
            <a:pPr indent="0" marL="0">
              <a:buNone/>
            </a:pPr>
            <a:r>
              <a:rPr lang="en-US" sz="1800" b="1" dirty="0">
                <a:solidFill>
                  <a:srgbClr val="2C6041"/>
                </a:solidFill>
                <a:latin typeface="Arial" pitchFamily="34" charset="0"/>
                <a:ea typeface="Arial" pitchFamily="34" charset="-122"/>
                <a:cs typeface="Arial" pitchFamily="34" charset="-120"/>
              </a:rPr>
              <a:t>Honorare p. a.</a:t>
            </a:r>
            <a:endParaRPr lang="en-US" sz="1800" dirty="0"/>
          </a:p>
        </p:txBody>
      </p:sp>
      <p:sp>
        <p:nvSpPr>
          <p:cNvPr id="16" name="Text 12"/>
          <p:cNvSpPr txBox="1"/>
          <p:nvPr/>
        </p:nvSpPr>
        <p:spPr>
          <a:xfrm>
            <a:off x="4673498" y="4251960"/>
            <a:ext cx="2844698" cy="137160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für Künstler:innen und Kursleitungen · 5 Gründerstellen · ca. 170 Std./Woche Aushilfen</a:t>
            </a:r>
            <a:endParaRPr lang="en-US" sz="1600" dirty="0"/>
          </a:p>
        </p:txBody>
      </p:sp>
      <p:sp>
        <p:nvSpPr>
          <p:cNvPr id="17" name="Shape 13"/>
          <p:cNvSpPr/>
          <p:nvPr/>
        </p:nvSpPr>
        <p:spPr>
          <a:xfrm>
            <a:off x="8158277" y="1783080"/>
            <a:ext cx="3484778" cy="4023360"/>
          </a:xfrm>
          <a:prstGeom prst="roundRect">
            <a:avLst>
              <a:gd name="adj" fmla="val 3936"/>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8" name="Shape 14"/>
          <p:cNvSpPr/>
          <p:nvPr/>
        </p:nvSpPr>
        <p:spPr>
          <a:xfrm>
            <a:off x="8478317" y="2103120"/>
            <a:ext cx="685800" cy="685800"/>
          </a:xfrm>
          <a:prstGeom prst="ellipse">
            <a:avLst/>
          </a:prstGeom>
          <a:solidFill>
            <a:srgbClr val="E4EFE8"/>
          </a:solidFill>
          <a:ln/>
        </p:spPr>
      </p:sp>
      <p:pic>
        <p:nvPicPr>
          <p:cNvPr id="19" name="Image 2" descr="preencoded.png">    </p:cNvPr>
          <p:cNvPicPr>
            <a:picLocks noChangeAspect="1"/>
          </p:cNvPicPr>
          <p:nvPr/>
        </p:nvPicPr>
        <p:blipFill>
          <a:blip r:embed="rId3"/>
          <a:stretch>
            <a:fillRect/>
          </a:stretch>
        </p:blipFill>
        <p:spPr>
          <a:xfrm>
            <a:off x="8649767" y="2274570"/>
            <a:ext cx="342900" cy="342900"/>
          </a:xfrm>
          <a:prstGeom prst="rect">
            <a:avLst/>
          </a:prstGeom>
        </p:spPr>
      </p:pic>
      <p:sp>
        <p:nvSpPr>
          <p:cNvPr id="20" name="Text 15"/>
          <p:cNvSpPr txBox="1"/>
          <p:nvPr/>
        </p:nvSpPr>
        <p:spPr>
          <a:xfrm>
            <a:off x="9301277" y="2103120"/>
            <a:ext cx="2113178" cy="685800"/>
          </a:xfrm>
          <a:prstGeom prst="rect">
            <a:avLst/>
          </a:prstGeom>
          <a:noFill/>
          <a:ln/>
        </p:spPr>
        <p:txBody>
          <a:bodyPr wrap="square" lIns="0" tIns="0" rIns="0" bIns="0" rtlCol="0" anchor="ctr"/>
          <a:lstStyle/>
          <a:p>
            <a:pPr indent="0" marL="0">
              <a:buNone/>
            </a:pPr>
            <a:r>
              <a:rPr lang="en-US" sz="2200" b="1" dirty="0">
                <a:solidFill>
                  <a:srgbClr val="2C6041"/>
                </a:solidFill>
                <a:latin typeface="Arial" pitchFamily="34" charset="0"/>
                <a:ea typeface="Arial" pitchFamily="34" charset="-122"/>
                <a:cs typeface="Arial" pitchFamily="34" charset="-120"/>
              </a:rPr>
              <a:t>Umwelt</a:t>
            </a:r>
            <a:endParaRPr lang="en-US" sz="2200" dirty="0"/>
          </a:p>
        </p:txBody>
      </p:sp>
      <p:sp>
        <p:nvSpPr>
          <p:cNvPr id="21" name="Text 16"/>
          <p:cNvSpPr txBox="1"/>
          <p:nvPr/>
        </p:nvSpPr>
        <p:spPr>
          <a:xfrm>
            <a:off x="8478317" y="2971800"/>
            <a:ext cx="2844698" cy="777240"/>
          </a:xfrm>
          <a:prstGeom prst="rect">
            <a:avLst/>
          </a:prstGeom>
          <a:noFill/>
          <a:ln/>
        </p:spPr>
        <p:txBody>
          <a:bodyPr wrap="square" lIns="0" tIns="0" rIns="0" bIns="0" rtlCol="0" anchor="b"/>
          <a:lstStyle/>
          <a:p>
            <a:pPr indent="0" marL="0">
              <a:buNone/>
            </a:pPr>
            <a:r>
              <a:rPr lang="en-US" sz="4000" b="1" dirty="0">
                <a:solidFill>
                  <a:srgbClr val="2B2A28"/>
                </a:solidFill>
                <a:latin typeface="Arial" pitchFamily="34" charset="0"/>
                <a:ea typeface="Arial" pitchFamily="34" charset="-122"/>
                <a:cs typeface="Arial" pitchFamily="34" charset="-120"/>
              </a:rPr>
              <a:t>Upcycling</a:t>
            </a:r>
            <a:endParaRPr lang="en-US" sz="4000" dirty="0"/>
          </a:p>
        </p:txBody>
      </p:sp>
      <p:sp>
        <p:nvSpPr>
          <p:cNvPr id="22" name="Text 17"/>
          <p:cNvSpPr txBox="1"/>
          <p:nvPr/>
        </p:nvSpPr>
        <p:spPr>
          <a:xfrm>
            <a:off x="8478317" y="3794760"/>
            <a:ext cx="2844698" cy="320040"/>
          </a:xfrm>
          <a:prstGeom prst="rect">
            <a:avLst/>
          </a:prstGeom>
          <a:noFill/>
          <a:ln/>
        </p:spPr>
        <p:txBody>
          <a:bodyPr wrap="square" lIns="0" tIns="0" rIns="0" bIns="0" rtlCol="0" anchor="t"/>
          <a:lstStyle/>
          <a:p>
            <a:pPr indent="0" marL="0">
              <a:buNone/>
            </a:pPr>
            <a:r>
              <a:rPr lang="en-US" sz="1800" b="1" dirty="0">
                <a:solidFill>
                  <a:srgbClr val="2C6041"/>
                </a:solidFill>
                <a:latin typeface="Arial" pitchFamily="34" charset="0"/>
                <a:ea typeface="Arial" pitchFamily="34" charset="-122"/>
                <a:cs typeface="Arial" pitchFamily="34" charset="-120"/>
              </a:rPr>
              <a:t>statt Neukauf</a:t>
            </a:r>
            <a:endParaRPr lang="en-US" sz="1800" dirty="0"/>
          </a:p>
        </p:txBody>
      </p:sp>
      <p:sp>
        <p:nvSpPr>
          <p:cNvPr id="23" name="Text 18"/>
          <p:cNvSpPr txBox="1"/>
          <p:nvPr/>
        </p:nvSpPr>
        <p:spPr>
          <a:xfrm>
            <a:off x="8478317" y="4251960"/>
            <a:ext cx="2844698" cy="137160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Denim, Vintage, Sneaker, Stickerei – Kurse, die Vorhandenes weiterverwenden.</a:t>
            </a:r>
            <a:endParaRPr lang="en-US" sz="1600" dirty="0"/>
          </a:p>
        </p:txBody>
      </p:sp>
      <p:sp>
        <p:nvSpPr>
          <p:cNvPr id="24" name="Text 19"/>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D] · Folie 8/10 · 0:15 (3:30–3:45)</a:t>
            </a:r>
            <a:endParaRPr lang="en-US" sz="1100" dirty="0"/>
          </a:p>
        </p:txBody>
      </p:sp>
      <p:sp>
        <p:nvSpPr>
          <p:cNvPr id="25" name="Text 20"/>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548640"/>
          </a:xfrm>
          <a:prstGeom prst="rect">
            <a:avLst/>
          </a:prstGeom>
          <a:noFill/>
          <a:ln/>
        </p:spPr>
        <p:txBody>
          <a:bodyPr wrap="square" lIns="0" tIns="0" rIns="0" bIns="0" rtlCol="0" anchor="t"/>
          <a:lstStyle/>
          <a:p>
            <a:pPr indent="0" marL="0">
              <a:buNone/>
            </a:pPr>
            <a:r>
              <a:rPr lang="en-US" sz="3200" b="1" dirty="0">
                <a:solidFill>
                  <a:srgbClr val="2B2A28"/>
                </a:solidFill>
                <a:latin typeface="Arial" pitchFamily="34" charset="0"/>
                <a:ea typeface="Arial" pitchFamily="34" charset="-122"/>
                <a:cs typeface="Arial" pitchFamily="34" charset="-120"/>
              </a:rPr>
              <a:t>In 4 Tagen vom Problem zum klickbaren Prototyp.</a:t>
            </a:r>
            <a:endParaRPr lang="en-US" sz="3200" dirty="0"/>
          </a:p>
        </p:txBody>
      </p:sp>
      <p:sp>
        <p:nvSpPr>
          <p:cNvPr id="3" name="Shape 1"/>
          <p:cNvSpPr/>
          <p:nvPr/>
        </p:nvSpPr>
        <p:spPr>
          <a:xfrm>
            <a:off x="548640" y="1325880"/>
            <a:ext cx="2567864" cy="2606040"/>
          </a:xfrm>
          <a:prstGeom prst="roundRect">
            <a:avLst>
              <a:gd name="adj" fmla="val 5341"/>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4" name="Shape 2"/>
          <p:cNvSpPr/>
          <p:nvPr/>
        </p:nvSpPr>
        <p:spPr>
          <a:xfrm>
            <a:off x="1265644" y="1600200"/>
            <a:ext cx="1133856" cy="1133856"/>
          </a:xfrm>
          <a:prstGeom prst="ellipse">
            <a:avLst/>
          </a:prstGeom>
          <a:solidFill>
            <a:srgbClr val="E4EFE8"/>
          </a:solidFill>
          <a:ln w="19050">
            <a:solidFill>
              <a:srgbClr val="2C6041"/>
            </a:solidFill>
            <a:prstDash val="dash"/>
          </a:ln>
        </p:spPr>
      </p:sp>
      <p:sp>
        <p:nvSpPr>
          <p:cNvPr id="5" name="Text 3"/>
          <p:cNvSpPr txBox="1"/>
          <p:nvPr/>
        </p:nvSpPr>
        <p:spPr>
          <a:xfrm>
            <a:off x="1265644" y="1600200"/>
            <a:ext cx="1133856" cy="1133856"/>
          </a:xfrm>
          <a:prstGeom prst="rect">
            <a:avLst/>
          </a:prstGeom>
          <a:noFill/>
          <a:ln/>
        </p:spPr>
        <p:txBody>
          <a:bodyPr wrap="square" lIns="0" tIns="0" rIns="0" bIns="0" rtlCol="0" anchor="ctr"/>
          <a:lstStyle/>
          <a:p>
            <a:pPr algn="ctr" indent="0" marL="0">
              <a:buNone/>
            </a:pPr>
            <a:r>
              <a:rPr lang="en-US" sz="3600" b="1" dirty="0">
                <a:solidFill>
                  <a:srgbClr val="2C6041"/>
                </a:solidFill>
                <a:latin typeface="Arial" pitchFamily="34" charset="0"/>
                <a:ea typeface="Arial" pitchFamily="34" charset="-122"/>
                <a:cs typeface="Arial" pitchFamily="34" charset="-120"/>
              </a:rPr>
              <a:t>A</a:t>
            </a:r>
            <a:endParaRPr lang="en-US" sz="3600" dirty="0"/>
          </a:p>
        </p:txBody>
      </p:sp>
      <p:sp>
        <p:nvSpPr>
          <p:cNvPr id="6" name="Text 4"/>
          <p:cNvSpPr txBox="1"/>
          <p:nvPr/>
        </p:nvSpPr>
        <p:spPr>
          <a:xfrm>
            <a:off x="731520" y="2880360"/>
            <a:ext cx="2202104" cy="411480"/>
          </a:xfrm>
          <a:prstGeom prst="rect">
            <a:avLst/>
          </a:prstGeom>
          <a:noFill/>
          <a:ln/>
        </p:spPr>
        <p:txBody>
          <a:bodyPr wrap="square" lIns="0" tIns="0" rIns="0" bIns="0" rtlCol="0" anchor="t"/>
          <a:lstStyle/>
          <a:p>
            <a:pPr algn="ctr" indent="0" marL="0">
              <a:buNone/>
            </a:pPr>
            <a:r>
              <a:rPr lang="en-US" sz="2200" b="1" dirty="0">
                <a:solidFill>
                  <a:srgbClr val="2B2A28"/>
                </a:solidFill>
                <a:latin typeface="Arial" pitchFamily="34" charset="0"/>
                <a:ea typeface="Arial" pitchFamily="34" charset="-122"/>
                <a:cs typeface="Arial" pitchFamily="34" charset="-120"/>
              </a:rPr>
              <a:t>[Name A]</a:t>
            </a:r>
            <a:endParaRPr lang="en-US" sz="2200" dirty="0"/>
          </a:p>
        </p:txBody>
      </p:sp>
      <p:sp>
        <p:nvSpPr>
          <p:cNvPr id="7" name="Text 5"/>
          <p:cNvSpPr txBox="1"/>
          <p:nvPr/>
        </p:nvSpPr>
        <p:spPr>
          <a:xfrm>
            <a:off x="731520" y="3291840"/>
            <a:ext cx="2202104" cy="411480"/>
          </a:xfrm>
          <a:prstGeom prst="rect">
            <a:avLst/>
          </a:prstGeom>
          <a:noFill/>
          <a:ln/>
        </p:spPr>
        <p:txBody>
          <a:bodyPr wrap="square" lIns="0" tIns="0" rIns="0" bIns="0" rtlCol="0" anchor="t"/>
          <a:lstStyle/>
          <a:p>
            <a:pPr algn="ctr" indent="0" marL="0">
              <a:buNone/>
            </a:pPr>
            <a:r>
              <a:rPr lang="en-US" sz="1600" dirty="0">
                <a:solidFill>
                  <a:srgbClr val="2C6041"/>
                </a:solidFill>
                <a:latin typeface="Arial" pitchFamily="34" charset="0"/>
                <a:ea typeface="Arial" pitchFamily="34" charset="-122"/>
                <a:cs typeface="Arial" pitchFamily="34" charset="-120"/>
              </a:rPr>
              <a:t>Finanzen &amp; Businessplan</a:t>
            </a:r>
            <a:endParaRPr lang="en-US" sz="1600" dirty="0"/>
          </a:p>
        </p:txBody>
      </p:sp>
      <p:sp>
        <p:nvSpPr>
          <p:cNvPr id="8" name="Shape 6"/>
          <p:cNvSpPr/>
          <p:nvPr/>
        </p:nvSpPr>
        <p:spPr>
          <a:xfrm>
            <a:off x="3390824" y="1325880"/>
            <a:ext cx="2567864" cy="2606040"/>
          </a:xfrm>
          <a:prstGeom prst="roundRect">
            <a:avLst>
              <a:gd name="adj" fmla="val 5341"/>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9" name="Shape 7"/>
          <p:cNvSpPr/>
          <p:nvPr/>
        </p:nvSpPr>
        <p:spPr>
          <a:xfrm>
            <a:off x="4107828" y="1600200"/>
            <a:ext cx="1133856" cy="1133856"/>
          </a:xfrm>
          <a:prstGeom prst="ellipse">
            <a:avLst/>
          </a:prstGeom>
          <a:solidFill>
            <a:srgbClr val="E4EFE8"/>
          </a:solidFill>
          <a:ln w="19050">
            <a:solidFill>
              <a:srgbClr val="2C6041"/>
            </a:solidFill>
            <a:prstDash val="dash"/>
          </a:ln>
        </p:spPr>
      </p:sp>
      <p:sp>
        <p:nvSpPr>
          <p:cNvPr id="10" name="Text 8"/>
          <p:cNvSpPr txBox="1"/>
          <p:nvPr/>
        </p:nvSpPr>
        <p:spPr>
          <a:xfrm>
            <a:off x="4107828" y="1600200"/>
            <a:ext cx="1133856" cy="1133856"/>
          </a:xfrm>
          <a:prstGeom prst="rect">
            <a:avLst/>
          </a:prstGeom>
          <a:noFill/>
          <a:ln/>
        </p:spPr>
        <p:txBody>
          <a:bodyPr wrap="square" lIns="0" tIns="0" rIns="0" bIns="0" rtlCol="0" anchor="ctr"/>
          <a:lstStyle/>
          <a:p>
            <a:pPr algn="ctr" indent="0" marL="0">
              <a:buNone/>
            </a:pPr>
            <a:r>
              <a:rPr lang="en-US" sz="3600" b="1" dirty="0">
                <a:solidFill>
                  <a:srgbClr val="2C6041"/>
                </a:solidFill>
                <a:latin typeface="Arial" pitchFamily="34" charset="0"/>
                <a:ea typeface="Arial" pitchFamily="34" charset="-122"/>
                <a:cs typeface="Arial" pitchFamily="34" charset="-120"/>
              </a:rPr>
              <a:t>B</a:t>
            </a:r>
            <a:endParaRPr lang="en-US" sz="3600" dirty="0"/>
          </a:p>
        </p:txBody>
      </p:sp>
      <p:sp>
        <p:nvSpPr>
          <p:cNvPr id="11" name="Text 9"/>
          <p:cNvSpPr txBox="1"/>
          <p:nvPr/>
        </p:nvSpPr>
        <p:spPr>
          <a:xfrm>
            <a:off x="3573704" y="2880360"/>
            <a:ext cx="2202104" cy="411480"/>
          </a:xfrm>
          <a:prstGeom prst="rect">
            <a:avLst/>
          </a:prstGeom>
          <a:noFill/>
          <a:ln/>
        </p:spPr>
        <p:txBody>
          <a:bodyPr wrap="square" lIns="0" tIns="0" rIns="0" bIns="0" rtlCol="0" anchor="t"/>
          <a:lstStyle/>
          <a:p>
            <a:pPr algn="ctr" indent="0" marL="0">
              <a:buNone/>
            </a:pPr>
            <a:r>
              <a:rPr lang="en-US" sz="2200" b="1" dirty="0">
                <a:solidFill>
                  <a:srgbClr val="2B2A28"/>
                </a:solidFill>
                <a:latin typeface="Arial" pitchFamily="34" charset="0"/>
                <a:ea typeface="Arial" pitchFamily="34" charset="-122"/>
                <a:cs typeface="Arial" pitchFamily="34" charset="-120"/>
              </a:rPr>
              <a:t>[Name B]</a:t>
            </a:r>
            <a:endParaRPr lang="en-US" sz="2200" dirty="0"/>
          </a:p>
        </p:txBody>
      </p:sp>
      <p:sp>
        <p:nvSpPr>
          <p:cNvPr id="12" name="Text 10"/>
          <p:cNvSpPr txBox="1"/>
          <p:nvPr/>
        </p:nvSpPr>
        <p:spPr>
          <a:xfrm>
            <a:off x="3573704" y="3291840"/>
            <a:ext cx="2202104" cy="411480"/>
          </a:xfrm>
          <a:prstGeom prst="rect">
            <a:avLst/>
          </a:prstGeom>
          <a:noFill/>
          <a:ln/>
        </p:spPr>
        <p:txBody>
          <a:bodyPr wrap="square" lIns="0" tIns="0" rIns="0" bIns="0" rtlCol="0" anchor="t"/>
          <a:lstStyle/>
          <a:p>
            <a:pPr algn="ctr" indent="0" marL="0">
              <a:buNone/>
            </a:pPr>
            <a:r>
              <a:rPr lang="en-US" sz="1600" dirty="0">
                <a:solidFill>
                  <a:srgbClr val="2C6041"/>
                </a:solidFill>
                <a:latin typeface="Arial" pitchFamily="34" charset="0"/>
                <a:ea typeface="Arial" pitchFamily="34" charset="-122"/>
                <a:cs typeface="Arial" pitchFamily="34" charset="-120"/>
              </a:rPr>
              <a:t>Marke &amp; Plattform</a:t>
            </a:r>
            <a:endParaRPr lang="en-US" sz="1600" dirty="0"/>
          </a:p>
        </p:txBody>
      </p:sp>
      <p:sp>
        <p:nvSpPr>
          <p:cNvPr id="13" name="Shape 11"/>
          <p:cNvSpPr/>
          <p:nvPr/>
        </p:nvSpPr>
        <p:spPr>
          <a:xfrm>
            <a:off x="6233008" y="1325880"/>
            <a:ext cx="2567864" cy="2606040"/>
          </a:xfrm>
          <a:prstGeom prst="roundRect">
            <a:avLst>
              <a:gd name="adj" fmla="val 5341"/>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4" name="Shape 12"/>
          <p:cNvSpPr/>
          <p:nvPr/>
        </p:nvSpPr>
        <p:spPr>
          <a:xfrm>
            <a:off x="6950012" y="1600200"/>
            <a:ext cx="1133856" cy="1133856"/>
          </a:xfrm>
          <a:prstGeom prst="ellipse">
            <a:avLst/>
          </a:prstGeom>
          <a:solidFill>
            <a:srgbClr val="E4EFE8"/>
          </a:solidFill>
          <a:ln w="19050">
            <a:solidFill>
              <a:srgbClr val="2C6041"/>
            </a:solidFill>
            <a:prstDash val="dash"/>
          </a:ln>
        </p:spPr>
      </p:sp>
      <p:sp>
        <p:nvSpPr>
          <p:cNvPr id="15" name="Text 13"/>
          <p:cNvSpPr txBox="1"/>
          <p:nvPr/>
        </p:nvSpPr>
        <p:spPr>
          <a:xfrm>
            <a:off x="6950012" y="1600200"/>
            <a:ext cx="1133856" cy="1133856"/>
          </a:xfrm>
          <a:prstGeom prst="rect">
            <a:avLst/>
          </a:prstGeom>
          <a:noFill/>
          <a:ln/>
        </p:spPr>
        <p:txBody>
          <a:bodyPr wrap="square" lIns="0" tIns="0" rIns="0" bIns="0" rtlCol="0" anchor="ctr"/>
          <a:lstStyle/>
          <a:p>
            <a:pPr algn="ctr" indent="0" marL="0">
              <a:buNone/>
            </a:pPr>
            <a:r>
              <a:rPr lang="en-US" sz="3600" b="1" dirty="0">
                <a:solidFill>
                  <a:srgbClr val="2C6041"/>
                </a:solidFill>
                <a:latin typeface="Arial" pitchFamily="34" charset="0"/>
                <a:ea typeface="Arial" pitchFamily="34" charset="-122"/>
                <a:cs typeface="Arial" pitchFamily="34" charset="-120"/>
              </a:rPr>
              <a:t>C</a:t>
            </a:r>
            <a:endParaRPr lang="en-US" sz="3600" dirty="0"/>
          </a:p>
        </p:txBody>
      </p:sp>
      <p:sp>
        <p:nvSpPr>
          <p:cNvPr id="16" name="Text 14"/>
          <p:cNvSpPr txBox="1"/>
          <p:nvPr/>
        </p:nvSpPr>
        <p:spPr>
          <a:xfrm>
            <a:off x="6415888" y="2880360"/>
            <a:ext cx="2202104" cy="411480"/>
          </a:xfrm>
          <a:prstGeom prst="rect">
            <a:avLst/>
          </a:prstGeom>
          <a:noFill/>
          <a:ln/>
        </p:spPr>
        <p:txBody>
          <a:bodyPr wrap="square" lIns="0" tIns="0" rIns="0" bIns="0" rtlCol="0" anchor="t"/>
          <a:lstStyle/>
          <a:p>
            <a:pPr algn="ctr" indent="0" marL="0">
              <a:buNone/>
            </a:pPr>
            <a:r>
              <a:rPr lang="en-US" sz="2200" b="1" dirty="0">
                <a:solidFill>
                  <a:srgbClr val="2B2A28"/>
                </a:solidFill>
                <a:latin typeface="Arial" pitchFamily="34" charset="0"/>
                <a:ea typeface="Arial" pitchFamily="34" charset="-122"/>
                <a:cs typeface="Arial" pitchFamily="34" charset="-120"/>
              </a:rPr>
              <a:t>[Name C]</a:t>
            </a:r>
            <a:endParaRPr lang="en-US" sz="2200" dirty="0"/>
          </a:p>
        </p:txBody>
      </p:sp>
      <p:sp>
        <p:nvSpPr>
          <p:cNvPr id="17" name="Text 15"/>
          <p:cNvSpPr txBox="1"/>
          <p:nvPr/>
        </p:nvSpPr>
        <p:spPr>
          <a:xfrm>
            <a:off x="6415888" y="3291840"/>
            <a:ext cx="2202104" cy="411480"/>
          </a:xfrm>
          <a:prstGeom prst="rect">
            <a:avLst/>
          </a:prstGeom>
          <a:noFill/>
          <a:ln/>
        </p:spPr>
        <p:txBody>
          <a:bodyPr wrap="square" lIns="0" tIns="0" rIns="0" bIns="0" rtlCol="0" anchor="t"/>
          <a:lstStyle/>
          <a:p>
            <a:pPr algn="ctr" indent="0" marL="0">
              <a:buNone/>
            </a:pPr>
            <a:r>
              <a:rPr lang="en-US" sz="1600" dirty="0">
                <a:solidFill>
                  <a:srgbClr val="2C6041"/>
                </a:solidFill>
                <a:latin typeface="Arial" pitchFamily="34" charset="0"/>
                <a:ea typeface="Arial" pitchFamily="34" charset="-122"/>
                <a:cs typeface="Arial" pitchFamily="34" charset="-120"/>
              </a:rPr>
              <a:t>Programm &amp; Partner</a:t>
            </a:r>
            <a:endParaRPr lang="en-US" sz="1600" dirty="0"/>
          </a:p>
        </p:txBody>
      </p:sp>
      <p:sp>
        <p:nvSpPr>
          <p:cNvPr id="18" name="Shape 16"/>
          <p:cNvSpPr/>
          <p:nvPr/>
        </p:nvSpPr>
        <p:spPr>
          <a:xfrm>
            <a:off x="9075191" y="1325880"/>
            <a:ext cx="2567864" cy="2606040"/>
          </a:xfrm>
          <a:prstGeom prst="roundRect">
            <a:avLst>
              <a:gd name="adj" fmla="val 5341"/>
            </a:avLst>
          </a:prstGeom>
          <a:solidFill>
            <a:srgbClr val="FFFFFF"/>
          </a:solidFill>
          <a:ln w="9525">
            <a:solidFill>
              <a:srgbClr val="E2DDD4"/>
            </a:solidFill>
            <a:prstDash val="solid"/>
          </a:ln>
          <a:effectLst>
            <a:outerShdw sx="100000" sy="100000" kx="0" ky="0" algn="bl" rotWithShape="0" blurRad="127000" dist="38100" dir="5400000">
              <a:srgbClr val="000000">
                <a:alpha val="18000"/>
              </a:srgbClr>
            </a:outerShdw>
          </a:effectLst>
        </p:spPr>
      </p:sp>
      <p:sp>
        <p:nvSpPr>
          <p:cNvPr id="19" name="Shape 17"/>
          <p:cNvSpPr/>
          <p:nvPr/>
        </p:nvSpPr>
        <p:spPr>
          <a:xfrm>
            <a:off x="9792195" y="1600200"/>
            <a:ext cx="1133856" cy="1133856"/>
          </a:xfrm>
          <a:prstGeom prst="ellipse">
            <a:avLst/>
          </a:prstGeom>
          <a:solidFill>
            <a:srgbClr val="E4EFE8"/>
          </a:solidFill>
          <a:ln w="19050">
            <a:solidFill>
              <a:srgbClr val="2C6041"/>
            </a:solidFill>
            <a:prstDash val="dash"/>
          </a:ln>
        </p:spPr>
      </p:sp>
      <p:sp>
        <p:nvSpPr>
          <p:cNvPr id="20" name="Text 18"/>
          <p:cNvSpPr txBox="1"/>
          <p:nvPr/>
        </p:nvSpPr>
        <p:spPr>
          <a:xfrm>
            <a:off x="9792195" y="1600200"/>
            <a:ext cx="1133856" cy="1133856"/>
          </a:xfrm>
          <a:prstGeom prst="rect">
            <a:avLst/>
          </a:prstGeom>
          <a:noFill/>
          <a:ln/>
        </p:spPr>
        <p:txBody>
          <a:bodyPr wrap="square" lIns="0" tIns="0" rIns="0" bIns="0" rtlCol="0" anchor="ctr"/>
          <a:lstStyle/>
          <a:p>
            <a:pPr algn="ctr" indent="0" marL="0">
              <a:buNone/>
            </a:pPr>
            <a:r>
              <a:rPr lang="en-US" sz="3600" b="1" dirty="0">
                <a:solidFill>
                  <a:srgbClr val="2C6041"/>
                </a:solidFill>
                <a:latin typeface="Arial" pitchFamily="34" charset="0"/>
                <a:ea typeface="Arial" pitchFamily="34" charset="-122"/>
                <a:cs typeface="Arial" pitchFamily="34" charset="-120"/>
              </a:rPr>
              <a:t>D</a:t>
            </a:r>
            <a:endParaRPr lang="en-US" sz="3600" dirty="0"/>
          </a:p>
        </p:txBody>
      </p:sp>
      <p:sp>
        <p:nvSpPr>
          <p:cNvPr id="21" name="Text 19"/>
          <p:cNvSpPr txBox="1"/>
          <p:nvPr/>
        </p:nvSpPr>
        <p:spPr>
          <a:xfrm>
            <a:off x="9258071" y="2880360"/>
            <a:ext cx="2202104" cy="411480"/>
          </a:xfrm>
          <a:prstGeom prst="rect">
            <a:avLst/>
          </a:prstGeom>
          <a:noFill/>
          <a:ln/>
        </p:spPr>
        <p:txBody>
          <a:bodyPr wrap="square" lIns="0" tIns="0" rIns="0" bIns="0" rtlCol="0" anchor="t"/>
          <a:lstStyle/>
          <a:p>
            <a:pPr algn="ctr" indent="0" marL="0">
              <a:buNone/>
            </a:pPr>
            <a:r>
              <a:rPr lang="en-US" sz="2200" b="1" dirty="0">
                <a:solidFill>
                  <a:srgbClr val="2B2A28"/>
                </a:solidFill>
                <a:latin typeface="Arial" pitchFamily="34" charset="0"/>
                <a:ea typeface="Arial" pitchFamily="34" charset="-122"/>
                <a:cs typeface="Arial" pitchFamily="34" charset="-120"/>
              </a:rPr>
              <a:t>[Name D]</a:t>
            </a:r>
            <a:endParaRPr lang="en-US" sz="2200" dirty="0"/>
          </a:p>
        </p:txBody>
      </p:sp>
      <p:sp>
        <p:nvSpPr>
          <p:cNvPr id="22" name="Text 20"/>
          <p:cNvSpPr txBox="1"/>
          <p:nvPr/>
        </p:nvSpPr>
        <p:spPr>
          <a:xfrm>
            <a:off x="9258071" y="3291840"/>
            <a:ext cx="2202104" cy="411480"/>
          </a:xfrm>
          <a:prstGeom prst="rect">
            <a:avLst/>
          </a:prstGeom>
          <a:noFill/>
          <a:ln/>
        </p:spPr>
        <p:txBody>
          <a:bodyPr wrap="square" lIns="0" tIns="0" rIns="0" bIns="0" rtlCol="0" anchor="t"/>
          <a:lstStyle/>
          <a:p>
            <a:pPr algn="ctr" indent="0" marL="0">
              <a:buNone/>
            </a:pPr>
            <a:r>
              <a:rPr lang="en-US" sz="1600" dirty="0">
                <a:solidFill>
                  <a:srgbClr val="2C6041"/>
                </a:solidFill>
                <a:latin typeface="Arial" pitchFamily="34" charset="0"/>
                <a:ea typeface="Arial" pitchFamily="34" charset="-122"/>
                <a:cs typeface="Arial" pitchFamily="34" charset="-120"/>
              </a:rPr>
              <a:t>Standort &amp; Operations</a:t>
            </a:r>
            <a:endParaRPr lang="en-US" sz="1600" dirty="0"/>
          </a:p>
        </p:txBody>
      </p:sp>
      <p:sp>
        <p:nvSpPr>
          <p:cNvPr id="23" name="Text 21"/>
          <p:cNvSpPr txBox="1"/>
          <p:nvPr/>
        </p:nvSpPr>
        <p:spPr>
          <a:xfrm>
            <a:off x="548640" y="420624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18</a:t>
            </a:r>
            <a:endParaRPr lang="en-US" sz="4800" dirty="0"/>
          </a:p>
        </p:txBody>
      </p:sp>
      <p:sp>
        <p:nvSpPr>
          <p:cNvPr id="24" name="Text 22"/>
          <p:cNvSpPr txBox="1"/>
          <p:nvPr/>
        </p:nvSpPr>
        <p:spPr>
          <a:xfrm>
            <a:off x="548640" y="4983480"/>
            <a:ext cx="2567864" cy="3657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Interviews</a:t>
            </a:r>
            <a:endParaRPr lang="en-US" sz="1600" dirty="0"/>
          </a:p>
        </p:txBody>
      </p:sp>
      <p:sp>
        <p:nvSpPr>
          <p:cNvPr id="25" name="Text 23"/>
          <p:cNvSpPr txBox="1"/>
          <p:nvPr/>
        </p:nvSpPr>
        <p:spPr>
          <a:xfrm>
            <a:off x="3390824" y="420624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3</a:t>
            </a:r>
            <a:endParaRPr lang="en-US" sz="4800" dirty="0"/>
          </a:p>
        </p:txBody>
      </p:sp>
      <p:sp>
        <p:nvSpPr>
          <p:cNvPr id="26" name="Text 24"/>
          <p:cNvSpPr txBox="1"/>
          <p:nvPr/>
        </p:nvSpPr>
        <p:spPr>
          <a:xfrm>
            <a:off x="3390824" y="4983480"/>
            <a:ext cx="2567864" cy="3657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Nutzertests</a:t>
            </a:r>
            <a:endParaRPr lang="en-US" sz="1600" dirty="0"/>
          </a:p>
        </p:txBody>
      </p:sp>
      <p:sp>
        <p:nvSpPr>
          <p:cNvPr id="27" name="Text 25"/>
          <p:cNvSpPr txBox="1"/>
          <p:nvPr/>
        </p:nvSpPr>
        <p:spPr>
          <a:xfrm>
            <a:off x="6233008" y="420624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1</a:t>
            </a:r>
            <a:endParaRPr lang="en-US" sz="4800" dirty="0"/>
          </a:p>
        </p:txBody>
      </p:sp>
      <p:sp>
        <p:nvSpPr>
          <p:cNvPr id="28" name="Text 26"/>
          <p:cNvSpPr txBox="1"/>
          <p:nvPr/>
        </p:nvSpPr>
        <p:spPr>
          <a:xfrm>
            <a:off x="6233008" y="4983480"/>
            <a:ext cx="2567864" cy="3657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klickbarer Prototyp</a:t>
            </a:r>
            <a:endParaRPr lang="en-US" sz="1600" dirty="0"/>
          </a:p>
        </p:txBody>
      </p:sp>
      <p:sp>
        <p:nvSpPr>
          <p:cNvPr id="29" name="Text 27"/>
          <p:cNvSpPr txBox="1"/>
          <p:nvPr/>
        </p:nvSpPr>
        <p:spPr>
          <a:xfrm>
            <a:off x="9075191" y="4206240"/>
            <a:ext cx="2567864" cy="731520"/>
          </a:xfrm>
          <a:prstGeom prst="rect">
            <a:avLst/>
          </a:prstGeom>
          <a:noFill/>
          <a:ln/>
        </p:spPr>
        <p:txBody>
          <a:bodyPr wrap="square" lIns="0" tIns="0" rIns="0" bIns="0" rtlCol="0" anchor="b"/>
          <a:lstStyle/>
          <a:p>
            <a:pPr indent="0" marL="0">
              <a:buNone/>
            </a:pPr>
            <a:r>
              <a:rPr lang="en-US" sz="4800" b="1" dirty="0">
                <a:solidFill>
                  <a:srgbClr val="2C6041"/>
                </a:solidFill>
                <a:latin typeface="Arial" pitchFamily="34" charset="0"/>
                <a:ea typeface="Arial" pitchFamily="34" charset="-122"/>
                <a:cs typeface="Arial" pitchFamily="34" charset="-120"/>
              </a:rPr>
              <a:t>5 Jahre</a:t>
            </a:r>
            <a:endParaRPr lang="en-US" sz="4800" dirty="0"/>
          </a:p>
        </p:txBody>
      </p:sp>
      <p:sp>
        <p:nvSpPr>
          <p:cNvPr id="30" name="Text 28"/>
          <p:cNvSpPr txBox="1"/>
          <p:nvPr/>
        </p:nvSpPr>
        <p:spPr>
          <a:xfrm>
            <a:off x="9075191" y="4983480"/>
            <a:ext cx="2567864" cy="365760"/>
          </a:xfrm>
          <a:prstGeom prst="rect">
            <a:avLst/>
          </a:prstGeom>
          <a:noFill/>
          <a:ln/>
        </p:spPr>
        <p:txBody>
          <a:bodyPr wrap="square" lIns="0" tIns="0" rIns="0" bIns="0" rtlCol="0" anchor="t"/>
          <a:lstStyle/>
          <a:p>
            <a:pPr indent="0" marL="0">
              <a:buNone/>
            </a:pPr>
            <a:r>
              <a:rPr lang="en-US" sz="1600" dirty="0">
                <a:solidFill>
                  <a:srgbClr val="2B2A28"/>
                </a:solidFill>
                <a:latin typeface="Arial" pitchFamily="34" charset="0"/>
                <a:ea typeface="Arial" pitchFamily="34" charset="-122"/>
                <a:cs typeface="Arial" pitchFamily="34" charset="-120"/>
              </a:rPr>
              <a:t>Finanzplan</a:t>
            </a:r>
            <a:endParaRPr lang="en-US" sz="1600" dirty="0"/>
          </a:p>
        </p:txBody>
      </p:sp>
      <p:sp>
        <p:nvSpPr>
          <p:cNvPr id="31" name="Text 29"/>
          <p:cNvSpPr txBox="1"/>
          <p:nvPr/>
        </p:nvSpPr>
        <p:spPr>
          <a:xfrm>
            <a:off x="548640" y="5715000"/>
            <a:ext cx="7315200" cy="320040"/>
          </a:xfrm>
          <a:prstGeom prst="rect">
            <a:avLst/>
          </a:prstGeom>
          <a:noFill/>
          <a:ln/>
        </p:spPr>
        <p:txBody>
          <a:bodyPr wrap="square" lIns="0" tIns="0" rIns="0" bIns="0" rtlCol="0" anchor="t"/>
          <a:lstStyle/>
          <a:p>
            <a:pPr indent="0" marL="0">
              <a:buNone/>
            </a:pPr>
            <a:r>
              <a:rPr lang="en-US" sz="1600" dirty="0">
                <a:solidFill>
                  <a:srgbClr val="5F5A52"/>
                </a:solidFill>
                <a:latin typeface="Arial" pitchFamily="34" charset="0"/>
                <a:ea typeface="Arial" pitchFamily="34" charset="-122"/>
                <a:cs typeface="Arial" pitchFamily="34" charset="-120"/>
              </a:rPr>
              <a:t>Geplant: 5 Gründer:innen im Management</a:t>
            </a:r>
            <a:endParaRPr lang="en-US" sz="1600" dirty="0"/>
          </a:p>
        </p:txBody>
      </p:sp>
      <p:sp>
        <p:nvSpPr>
          <p:cNvPr id="32" name="Text 30"/>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5F5A52"/>
                </a:solidFill>
                <a:latin typeface="Arial" pitchFamily="34" charset="0"/>
                <a:ea typeface="Arial" pitchFamily="34" charset="-122"/>
                <a:cs typeface="Arial" pitchFamily="34" charset="-120"/>
              </a:rPr>
              <a:t>[Name D] · Folie 9/10 · 0:15 (3:45–4:00)</a:t>
            </a:r>
            <a:endParaRPr lang="en-US" sz="1100" dirty="0"/>
          </a:p>
        </p:txBody>
      </p:sp>
      <p:sp>
        <p:nvSpPr>
          <p:cNvPr id="33" name="Text 31"/>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5F5A52"/>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4B33"/>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54864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Unser Ask: 1,17 Mio € und Türöffner in München.</a:t>
            </a:r>
            <a:endParaRPr lang="en-US" sz="3200" dirty="0"/>
          </a:p>
        </p:txBody>
      </p:sp>
      <p:sp>
        <p:nvSpPr>
          <p:cNvPr id="3" name="Text 1"/>
          <p:cNvSpPr txBox="1"/>
          <p:nvPr/>
        </p:nvSpPr>
        <p:spPr>
          <a:xfrm>
            <a:off x="548640" y="1463040"/>
            <a:ext cx="6583680" cy="320040"/>
          </a:xfrm>
          <a:prstGeom prst="rect">
            <a:avLst/>
          </a:prstGeom>
          <a:noFill/>
          <a:ln/>
        </p:spPr>
        <p:txBody>
          <a:bodyPr wrap="square" lIns="0" tIns="0" rIns="0" bIns="0" rtlCol="0" anchor="t"/>
          <a:lstStyle/>
          <a:p>
            <a:pPr indent="0" marL="0">
              <a:buNone/>
            </a:pPr>
            <a:r>
              <a:rPr lang="en-US" sz="1600" b="1" dirty="0">
                <a:solidFill>
                  <a:srgbClr val="9FD1B0"/>
                </a:solidFill>
                <a:latin typeface="Arial" pitchFamily="34" charset="0"/>
                <a:ea typeface="Arial" pitchFamily="34" charset="-122"/>
                <a:cs typeface="Arial" pitchFamily="34" charset="-120"/>
              </a:rPr>
              <a:t>Nächste Schritte: unsere 3 riskantesten Annahmen testen</a:t>
            </a:r>
            <a:endParaRPr lang="en-US" sz="1600" dirty="0"/>
          </a:p>
        </p:txBody>
      </p:sp>
      <p:sp>
        <p:nvSpPr>
          <p:cNvPr id="4" name="Shape 2"/>
          <p:cNvSpPr/>
          <p:nvPr/>
        </p:nvSpPr>
        <p:spPr>
          <a:xfrm>
            <a:off x="548640" y="1965960"/>
            <a:ext cx="548640" cy="548640"/>
          </a:xfrm>
          <a:prstGeom prst="ellipse">
            <a:avLst/>
          </a:prstGeom>
          <a:solidFill>
            <a:srgbClr val="9FD1B0"/>
          </a:solidFill>
          <a:ln/>
        </p:spPr>
      </p:sp>
      <p:sp>
        <p:nvSpPr>
          <p:cNvPr id="5" name="Text 3"/>
          <p:cNvSpPr txBox="1"/>
          <p:nvPr/>
        </p:nvSpPr>
        <p:spPr>
          <a:xfrm>
            <a:off x="548640" y="1965960"/>
            <a:ext cx="548640" cy="548640"/>
          </a:xfrm>
          <a:prstGeom prst="rect">
            <a:avLst/>
          </a:prstGeom>
          <a:noFill/>
          <a:ln/>
        </p:spPr>
        <p:txBody>
          <a:bodyPr wrap="square" lIns="0" tIns="0" rIns="0" bIns="0" rtlCol="0" anchor="ctr"/>
          <a:lstStyle/>
          <a:p>
            <a:pPr algn="ctr" indent="0" marL="0">
              <a:buNone/>
            </a:pPr>
            <a:r>
              <a:rPr lang="en-US" sz="2000" b="1" dirty="0">
                <a:solidFill>
                  <a:srgbClr val="224B33"/>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325880" y="192024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Zahlen Münchner:innen 50–80 €?</a:t>
            </a:r>
            <a:endParaRPr lang="en-US" sz="2000" dirty="0"/>
          </a:p>
        </p:txBody>
      </p:sp>
      <p:sp>
        <p:nvSpPr>
          <p:cNvPr id="7" name="Text 5"/>
          <p:cNvSpPr txBox="1"/>
          <p:nvPr/>
        </p:nvSpPr>
        <p:spPr>
          <a:xfrm>
            <a:off x="1325880" y="2331720"/>
            <a:ext cx="5852160" cy="640080"/>
          </a:xfrm>
          <a:prstGeom prst="rect">
            <a:avLst/>
          </a:prstGeom>
          <a:noFill/>
          <a:ln/>
        </p:spPr>
        <p:txBody>
          <a:bodyPr wrap="square" lIns="0" tIns="0" rIns="0" bIns="0" rtlCol="0" anchor="t"/>
          <a:lstStyle/>
          <a:p>
            <a:pPr indent="0" marL="0">
              <a:buNone/>
            </a:pPr>
            <a:r>
              <a:rPr lang="en-US" sz="1600" dirty="0">
                <a:solidFill>
                  <a:srgbClr val="9FD1B0"/>
                </a:solidFill>
                <a:latin typeface="Arial" pitchFamily="34" charset="0"/>
                <a:ea typeface="Arial" pitchFamily="34" charset="-122"/>
                <a:cs typeface="Arial" pitchFamily="34" charset="-120"/>
              </a:rPr>
              <a:t>Test: </a:t>
            </a:r>
            <a:pPr indent="0" marL="0">
              <a:buNone/>
            </a:pPr>
            <a:r>
              <a:rPr lang="en-US" sz="1600" dirty="0">
                <a:solidFill>
                  <a:srgbClr val="E6EFE9"/>
                </a:solidFill>
                <a:latin typeface="Arial" pitchFamily="34" charset="0"/>
                <a:ea typeface="Arial" pitchFamily="34" charset="-122"/>
                <a:cs typeface="Arial" pitchFamily="34" charset="-120"/>
              </a:rPr>
              <a:t>Landingpage mit Preisen + Vorbestellung</a:t>
            </a:r>
            <a:endParaRPr lang="en-US" sz="1600" dirty="0"/>
          </a:p>
          <a:p>
            <a:pPr indent="0" marL="0">
              <a:buNone/>
            </a:pPr>
            <a:r>
              <a:rPr lang="en-US" sz="1600" b="1" dirty="0">
                <a:solidFill>
                  <a:srgbClr val="9FD1B0"/>
                </a:solidFill>
                <a:latin typeface="Arial" pitchFamily="34" charset="0"/>
                <a:ea typeface="Arial" pitchFamily="34" charset="-122"/>
                <a:cs typeface="Arial" pitchFamily="34" charset="-120"/>
              </a:rPr>
              <a:t>Ja = </a:t>
            </a:r>
            <a:pPr indent="0" marL="0">
              <a:buNone/>
            </a:pPr>
            <a:r>
              <a:rPr lang="en-US" sz="1600" b="1" dirty="0">
                <a:solidFill>
                  <a:srgbClr val="FFFFFF"/>
                </a:solidFill>
                <a:latin typeface="Arial" pitchFamily="34" charset="0"/>
                <a:ea typeface="Arial" pitchFamily="34" charset="-122"/>
                <a:cs typeface="Arial" pitchFamily="34" charset="-120"/>
              </a:rPr>
              <a:t>50 Vorbestellungen in 4 Wochen</a:t>
            </a:r>
            <a:endParaRPr lang="en-US" sz="1600" dirty="0"/>
          </a:p>
        </p:txBody>
      </p:sp>
      <p:sp>
        <p:nvSpPr>
          <p:cNvPr id="8" name="Shape 6"/>
          <p:cNvSpPr/>
          <p:nvPr/>
        </p:nvSpPr>
        <p:spPr>
          <a:xfrm>
            <a:off x="548640" y="3108960"/>
            <a:ext cx="548640" cy="548640"/>
          </a:xfrm>
          <a:prstGeom prst="ellipse">
            <a:avLst/>
          </a:prstGeom>
          <a:solidFill>
            <a:srgbClr val="9FD1B0"/>
          </a:solidFill>
          <a:ln/>
        </p:spPr>
      </p:sp>
      <p:sp>
        <p:nvSpPr>
          <p:cNvPr id="9" name="Text 7"/>
          <p:cNvSpPr txBox="1"/>
          <p:nvPr/>
        </p:nvSpPr>
        <p:spPr>
          <a:xfrm>
            <a:off x="548640" y="3108960"/>
            <a:ext cx="548640" cy="548640"/>
          </a:xfrm>
          <a:prstGeom prst="rect">
            <a:avLst/>
          </a:prstGeom>
          <a:noFill/>
          <a:ln/>
        </p:spPr>
        <p:txBody>
          <a:bodyPr wrap="square" lIns="0" tIns="0" rIns="0" bIns="0" rtlCol="0" anchor="ctr"/>
          <a:lstStyle/>
          <a:p>
            <a:pPr algn="ctr" indent="0" marL="0">
              <a:buNone/>
            </a:pPr>
            <a:r>
              <a:rPr lang="en-US" sz="2000" b="1" dirty="0">
                <a:solidFill>
                  <a:srgbClr val="224B33"/>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325880" y="306324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Buchen Firmen Teamevents zu 8.000 €?</a:t>
            </a:r>
            <a:endParaRPr lang="en-US" sz="2000" dirty="0"/>
          </a:p>
        </p:txBody>
      </p:sp>
      <p:sp>
        <p:nvSpPr>
          <p:cNvPr id="11" name="Text 9"/>
          <p:cNvSpPr txBox="1"/>
          <p:nvPr/>
        </p:nvSpPr>
        <p:spPr>
          <a:xfrm>
            <a:off x="1325880" y="3474720"/>
            <a:ext cx="5852160" cy="640080"/>
          </a:xfrm>
          <a:prstGeom prst="rect">
            <a:avLst/>
          </a:prstGeom>
          <a:noFill/>
          <a:ln/>
        </p:spPr>
        <p:txBody>
          <a:bodyPr wrap="square" lIns="0" tIns="0" rIns="0" bIns="0" rtlCol="0" anchor="t"/>
          <a:lstStyle/>
          <a:p>
            <a:pPr indent="0" marL="0">
              <a:buNone/>
            </a:pPr>
            <a:r>
              <a:rPr lang="en-US" sz="1600" dirty="0">
                <a:solidFill>
                  <a:srgbClr val="9FD1B0"/>
                </a:solidFill>
                <a:latin typeface="Arial" pitchFamily="34" charset="0"/>
                <a:ea typeface="Arial" pitchFamily="34" charset="-122"/>
                <a:cs typeface="Arial" pitchFamily="34" charset="-120"/>
              </a:rPr>
              <a:t>Test: </a:t>
            </a:r>
            <a:pPr indent="0" marL="0">
              <a:buNone/>
            </a:pPr>
            <a:r>
              <a:rPr lang="en-US" sz="1600" dirty="0">
                <a:solidFill>
                  <a:srgbClr val="E6EFE9"/>
                </a:solidFill>
                <a:latin typeface="Arial" pitchFamily="34" charset="0"/>
                <a:ea typeface="Arial" pitchFamily="34" charset="-122"/>
                <a:cs typeface="Arial" pitchFamily="34" charset="-120"/>
              </a:rPr>
              <a:t>10 HR-Gespräche</a:t>
            </a:r>
            <a:endParaRPr lang="en-US" sz="1600" dirty="0"/>
          </a:p>
          <a:p>
            <a:pPr indent="0" marL="0">
              <a:buNone/>
            </a:pPr>
            <a:r>
              <a:rPr lang="en-US" sz="1600" b="1" dirty="0">
                <a:solidFill>
                  <a:srgbClr val="9FD1B0"/>
                </a:solidFill>
                <a:latin typeface="Arial" pitchFamily="34" charset="0"/>
                <a:ea typeface="Arial" pitchFamily="34" charset="-122"/>
                <a:cs typeface="Arial" pitchFamily="34" charset="-120"/>
              </a:rPr>
              <a:t>Ja = </a:t>
            </a:r>
            <a:pPr indent="0" marL="0">
              <a:buNone/>
            </a:pPr>
            <a:r>
              <a:rPr lang="en-US" sz="1600" b="1" dirty="0">
                <a:solidFill>
                  <a:srgbClr val="FFFFFF"/>
                </a:solidFill>
                <a:latin typeface="Arial" pitchFamily="34" charset="0"/>
                <a:ea typeface="Arial" pitchFamily="34" charset="-122"/>
                <a:cs typeface="Arial" pitchFamily="34" charset="-120"/>
              </a:rPr>
              <a:t>3 Absichtserklärungen</a:t>
            </a:r>
            <a:endParaRPr lang="en-US" sz="1600" dirty="0"/>
          </a:p>
        </p:txBody>
      </p:sp>
      <p:sp>
        <p:nvSpPr>
          <p:cNvPr id="12" name="Shape 10"/>
          <p:cNvSpPr/>
          <p:nvPr/>
        </p:nvSpPr>
        <p:spPr>
          <a:xfrm>
            <a:off x="548640" y="4251960"/>
            <a:ext cx="548640" cy="548640"/>
          </a:xfrm>
          <a:prstGeom prst="ellipse">
            <a:avLst/>
          </a:prstGeom>
          <a:solidFill>
            <a:srgbClr val="9FD1B0"/>
          </a:solidFill>
          <a:ln/>
        </p:spPr>
      </p:sp>
      <p:sp>
        <p:nvSpPr>
          <p:cNvPr id="13" name="Text 11"/>
          <p:cNvSpPr txBox="1"/>
          <p:nvPr/>
        </p:nvSpPr>
        <p:spPr>
          <a:xfrm>
            <a:off x="548640" y="4251960"/>
            <a:ext cx="548640" cy="548640"/>
          </a:xfrm>
          <a:prstGeom prst="rect">
            <a:avLst/>
          </a:prstGeom>
          <a:noFill/>
          <a:ln/>
        </p:spPr>
        <p:txBody>
          <a:bodyPr wrap="square" lIns="0" tIns="0" rIns="0" bIns="0" rtlCol="0" anchor="ctr"/>
          <a:lstStyle/>
          <a:p>
            <a:pPr algn="ctr" indent="0" marL="0">
              <a:buNone/>
            </a:pPr>
            <a:r>
              <a:rPr lang="en-US" sz="2000" b="1" dirty="0">
                <a:solidFill>
                  <a:srgbClr val="224B33"/>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1325880" y="420624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Beteiligen sich Marken?</a:t>
            </a:r>
            <a:endParaRPr lang="en-US" sz="2000" dirty="0"/>
          </a:p>
        </p:txBody>
      </p:sp>
      <p:sp>
        <p:nvSpPr>
          <p:cNvPr id="15" name="Text 13"/>
          <p:cNvSpPr txBox="1"/>
          <p:nvPr/>
        </p:nvSpPr>
        <p:spPr>
          <a:xfrm>
            <a:off x="1325880" y="4617720"/>
            <a:ext cx="5852160" cy="640080"/>
          </a:xfrm>
          <a:prstGeom prst="rect">
            <a:avLst/>
          </a:prstGeom>
          <a:noFill/>
          <a:ln/>
        </p:spPr>
        <p:txBody>
          <a:bodyPr wrap="square" lIns="0" tIns="0" rIns="0" bIns="0" rtlCol="0" anchor="t"/>
          <a:lstStyle/>
          <a:p>
            <a:pPr indent="0" marL="0">
              <a:buNone/>
            </a:pPr>
            <a:r>
              <a:rPr lang="en-US" sz="1600" dirty="0">
                <a:solidFill>
                  <a:srgbClr val="9FD1B0"/>
                </a:solidFill>
                <a:latin typeface="Arial" pitchFamily="34" charset="0"/>
                <a:ea typeface="Arial" pitchFamily="34" charset="-122"/>
                <a:cs typeface="Arial" pitchFamily="34" charset="-120"/>
              </a:rPr>
              <a:t>Test: </a:t>
            </a:r>
            <a:pPr indent="0" marL="0">
              <a:buNone/>
            </a:pPr>
            <a:r>
              <a:rPr lang="en-US" sz="1600" dirty="0">
                <a:solidFill>
                  <a:srgbClr val="E6EFE9"/>
                </a:solidFill>
                <a:latin typeface="Arial" pitchFamily="34" charset="0"/>
                <a:ea typeface="Arial" pitchFamily="34" charset="-122"/>
                <a:cs typeface="Arial" pitchFamily="34" charset="-120"/>
              </a:rPr>
              <a:t>5 Markengespräche (Material, Hosts, Beitrag)</a:t>
            </a:r>
            <a:endParaRPr lang="en-US" sz="1600" dirty="0"/>
          </a:p>
          <a:p>
            <a:pPr indent="0" marL="0">
              <a:buNone/>
            </a:pPr>
            <a:r>
              <a:rPr lang="en-US" sz="1600" b="1" dirty="0">
                <a:solidFill>
                  <a:srgbClr val="9FD1B0"/>
                </a:solidFill>
                <a:latin typeface="Arial" pitchFamily="34" charset="0"/>
                <a:ea typeface="Arial" pitchFamily="34" charset="-122"/>
                <a:cs typeface="Arial" pitchFamily="34" charset="-120"/>
              </a:rPr>
              <a:t>Ja = </a:t>
            </a:r>
            <a:pPr indent="0" marL="0">
              <a:buNone/>
            </a:pPr>
            <a:r>
              <a:rPr lang="en-US" sz="1600" b="1" dirty="0">
                <a:solidFill>
                  <a:srgbClr val="FFFFFF"/>
                </a:solidFill>
                <a:latin typeface="Arial" pitchFamily="34" charset="0"/>
                <a:ea typeface="Arial" pitchFamily="34" charset="-122"/>
                <a:cs typeface="Arial" pitchFamily="34" charset="-120"/>
              </a:rPr>
              <a:t>1 LOI</a:t>
            </a:r>
            <a:endParaRPr lang="en-US" sz="1600" dirty="0"/>
          </a:p>
        </p:txBody>
      </p:sp>
      <p:sp>
        <p:nvSpPr>
          <p:cNvPr id="16" name="Shape 14"/>
          <p:cNvSpPr/>
          <p:nvPr/>
        </p:nvSpPr>
        <p:spPr>
          <a:xfrm>
            <a:off x="7635240" y="1463040"/>
            <a:ext cx="4007815" cy="3657600"/>
          </a:xfrm>
          <a:prstGeom prst="roundRect">
            <a:avLst>
              <a:gd name="adj" fmla="val 3750"/>
            </a:avLst>
          </a:prstGeom>
          <a:solidFill>
            <a:srgbClr val="2C6041"/>
          </a:solidFill>
          <a:ln/>
          <a:effectLst>
            <a:outerShdw sx="100000" sy="100000" kx="0" ky="0" algn="bl" rotWithShape="0" blurRad="127000" dist="38100" dir="5400000">
              <a:srgbClr val="000000">
                <a:alpha val="18000"/>
              </a:srgbClr>
            </a:outerShdw>
          </a:effectLst>
        </p:spPr>
      </p:sp>
      <p:sp>
        <p:nvSpPr>
          <p:cNvPr id="17" name="Text 15"/>
          <p:cNvSpPr txBox="1"/>
          <p:nvPr/>
        </p:nvSpPr>
        <p:spPr>
          <a:xfrm>
            <a:off x="7909560" y="1645920"/>
            <a:ext cx="3459175" cy="868680"/>
          </a:xfrm>
          <a:prstGeom prst="rect">
            <a:avLst/>
          </a:prstGeom>
          <a:noFill/>
          <a:ln/>
        </p:spPr>
        <p:txBody>
          <a:bodyPr wrap="square" lIns="0" tIns="0" rIns="0" bIns="0" rtlCol="0" anchor="b"/>
          <a:lstStyle/>
          <a:p>
            <a:pPr indent="0" marL="0">
              <a:buNone/>
            </a:pPr>
            <a:r>
              <a:rPr lang="en-US" sz="5400" b="1" dirty="0">
                <a:solidFill>
                  <a:srgbClr val="FFFFFF"/>
                </a:solidFill>
                <a:latin typeface="Arial" pitchFamily="34" charset="0"/>
                <a:ea typeface="Arial" pitchFamily="34" charset="-122"/>
                <a:cs typeface="Arial" pitchFamily="34" charset="-120"/>
              </a:rPr>
              <a:t>1,17 Mio €</a:t>
            </a:r>
            <a:endParaRPr lang="en-US" sz="5400" dirty="0"/>
          </a:p>
        </p:txBody>
      </p:sp>
      <p:sp>
        <p:nvSpPr>
          <p:cNvPr id="18" name="Text 16"/>
          <p:cNvSpPr txBox="1"/>
          <p:nvPr/>
        </p:nvSpPr>
        <p:spPr>
          <a:xfrm>
            <a:off x="7909560" y="2560320"/>
            <a:ext cx="3459175" cy="320040"/>
          </a:xfrm>
          <a:prstGeom prst="rect">
            <a:avLst/>
          </a:prstGeom>
          <a:noFill/>
          <a:ln/>
        </p:spPr>
        <p:txBody>
          <a:bodyPr wrap="square" lIns="0" tIns="0" rIns="0" bIns="0" rtlCol="0" anchor="t"/>
          <a:lstStyle/>
          <a:p>
            <a:pPr indent="0" marL="0">
              <a:buNone/>
            </a:pPr>
            <a:r>
              <a:rPr lang="en-US" sz="1800" b="1" dirty="0">
                <a:solidFill>
                  <a:srgbClr val="9FD1B0"/>
                </a:solidFill>
                <a:latin typeface="Arial" pitchFamily="34" charset="0"/>
                <a:ea typeface="Arial" pitchFamily="34" charset="-122"/>
                <a:cs typeface="Arial" pitchFamily="34" charset="-120"/>
              </a:rPr>
              <a:t>Startkapital</a:t>
            </a:r>
            <a:endParaRPr lang="en-US" sz="1800" dirty="0"/>
          </a:p>
        </p:txBody>
      </p:sp>
      <p:sp>
        <p:nvSpPr>
          <p:cNvPr id="19" name="Text 17"/>
          <p:cNvSpPr txBox="1"/>
          <p:nvPr/>
        </p:nvSpPr>
        <p:spPr>
          <a:xfrm>
            <a:off x="7909560" y="2971800"/>
            <a:ext cx="3459175" cy="100584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rgbClr val="FFFFFF"/>
                </a:solidFill>
                <a:latin typeface="Arial" pitchFamily="34" charset="0"/>
                <a:ea typeface="Arial" pitchFamily="34" charset="-122"/>
                <a:cs typeface="Arial" pitchFamily="34" charset="-120"/>
              </a:rPr>
              <a:t>Umbau &amp; Einrichtung 732.500 €</a:t>
            </a:r>
            <a:endParaRPr lang="en-US" sz="1600" dirty="0"/>
          </a:p>
          <a:p>
            <a:pPr marL="342900" indent="-342900">
              <a:spcAft>
                <a:spcPts val="300"/>
              </a:spcAft>
              <a:buSzPct val="100000"/>
              <a:buChar char="•"/>
            </a:pPr>
            <a:r>
              <a:rPr lang="en-US" sz="1600" dirty="0">
                <a:solidFill>
                  <a:srgbClr val="FFFFFF"/>
                </a:solidFill>
                <a:latin typeface="Arial" pitchFamily="34" charset="0"/>
                <a:ea typeface="Arial" pitchFamily="34" charset="-122"/>
                <a:cs typeface="Arial" pitchFamily="34" charset="-120"/>
              </a:rPr>
              <a:t>Liquiditätsreserve 364.855 €</a:t>
            </a:r>
            <a:endParaRPr lang="en-US" sz="1600" dirty="0"/>
          </a:p>
          <a:p>
            <a:pPr marL="342900" indent="-342900">
              <a:spcAft>
                <a:spcPts val="300"/>
              </a:spcAft>
              <a:buSzPct val="100000"/>
              <a:buChar char="•"/>
            </a:pPr>
            <a:r>
              <a:rPr lang="en-US" sz="1600" dirty="0">
                <a:solidFill>
                  <a:srgbClr val="FFFFFF"/>
                </a:solidFill>
                <a:latin typeface="Arial" pitchFamily="34" charset="0"/>
                <a:ea typeface="Arial" pitchFamily="34" charset="-122"/>
                <a:cs typeface="Arial" pitchFamily="34" charset="-120"/>
              </a:rPr>
              <a:t>Anlaufkosten &amp; Kaution 72.500 €</a:t>
            </a:r>
            <a:endParaRPr lang="en-US" sz="1600" dirty="0"/>
          </a:p>
        </p:txBody>
      </p:sp>
      <p:sp>
        <p:nvSpPr>
          <p:cNvPr id="20" name="Text 18"/>
          <p:cNvSpPr txBox="1"/>
          <p:nvPr/>
        </p:nvSpPr>
        <p:spPr>
          <a:xfrm>
            <a:off x="7909560" y="4114800"/>
            <a:ext cx="3459175"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 Kontakte zu Marken und Gewerbeimmobilien in München</a:t>
            </a:r>
            <a:endParaRPr lang="en-US" sz="1800" dirty="0"/>
          </a:p>
        </p:txBody>
      </p:sp>
      <p:sp>
        <p:nvSpPr>
          <p:cNvPr id="21" name="Text 19"/>
          <p:cNvSpPr txBox="1"/>
          <p:nvPr/>
        </p:nvSpPr>
        <p:spPr>
          <a:xfrm>
            <a:off x="548640" y="5394960"/>
            <a:ext cx="11094415" cy="640080"/>
          </a:xfrm>
          <a:prstGeom prst="rect">
            <a:avLst/>
          </a:prstGeom>
          <a:noFill/>
          <a:ln/>
        </p:spPr>
        <p:txBody>
          <a:bodyPr wrap="square" lIns="0" tIns="0" rIns="0" bIns="0" rtlCol="0" anchor="ctr"/>
          <a:lstStyle/>
          <a:p>
            <a:pPr indent="0" marL="0">
              <a:buNone/>
            </a:pPr>
            <a:r>
              <a:rPr lang="en-US" sz="3000" b="1" i="1" dirty="0">
                <a:solidFill>
                  <a:srgbClr val="9FD1B0"/>
                </a:solidFill>
                <a:latin typeface="Arial" pitchFamily="34" charset="0"/>
                <a:ea typeface="Arial" pitchFamily="34" charset="-122"/>
                <a:cs typeface="Arial" pitchFamily="34" charset="-120"/>
              </a:rPr>
              <a:t>Dein nächster freier Abend gehört dem Atelierhaus.</a:t>
            </a:r>
            <a:endParaRPr lang="en-US" sz="3000" dirty="0"/>
          </a:p>
        </p:txBody>
      </p:sp>
      <p:sp>
        <p:nvSpPr>
          <p:cNvPr id="22" name="Text 20"/>
          <p:cNvSpPr txBox="1"/>
          <p:nvPr/>
        </p:nvSpPr>
        <p:spPr>
          <a:xfrm>
            <a:off x="548640" y="6236208"/>
            <a:ext cx="6400800" cy="201168"/>
          </a:xfrm>
          <a:prstGeom prst="rect">
            <a:avLst/>
          </a:prstGeom>
          <a:noFill/>
          <a:ln/>
        </p:spPr>
        <p:txBody>
          <a:bodyPr wrap="square" lIns="0" tIns="0" rIns="0" bIns="0" rtlCol="0" anchor="ctr"/>
          <a:lstStyle/>
          <a:p>
            <a:pPr indent="0" marL="0">
              <a:buNone/>
            </a:pPr>
            <a:r>
              <a:rPr lang="en-US" sz="1100" dirty="0">
                <a:solidFill>
                  <a:srgbClr val="9FD1B0"/>
                </a:solidFill>
                <a:latin typeface="Arial" pitchFamily="34" charset="0"/>
                <a:ea typeface="Arial" pitchFamily="34" charset="-122"/>
                <a:cs typeface="Arial" pitchFamily="34" charset="-120"/>
              </a:rPr>
              <a:t>[Name D] · Folie 10/10 · 0:30 (4:00–4:30)</a:t>
            </a:r>
            <a:endParaRPr lang="en-US" sz="1100" dirty="0"/>
          </a:p>
        </p:txBody>
      </p:sp>
      <p:sp>
        <p:nvSpPr>
          <p:cNvPr id="23" name="Text 21"/>
          <p:cNvSpPr txBox="1"/>
          <p:nvPr/>
        </p:nvSpPr>
        <p:spPr>
          <a:xfrm>
            <a:off x="7985455" y="6236208"/>
            <a:ext cx="3657600" cy="201168"/>
          </a:xfrm>
          <a:prstGeom prst="rect">
            <a:avLst/>
          </a:prstGeom>
          <a:noFill/>
          <a:ln/>
        </p:spPr>
        <p:txBody>
          <a:bodyPr wrap="square" lIns="0" tIns="0" rIns="0" bIns="0" rtlCol="0" anchor="ctr"/>
          <a:lstStyle/>
          <a:p>
            <a:pPr algn="r" indent="0" marL="0">
              <a:buNone/>
            </a:pPr>
            <a:r>
              <a:rPr lang="en-US" sz="1100" dirty="0">
                <a:solidFill>
                  <a:srgbClr val="9FD1B0"/>
                </a:solidFill>
                <a:latin typeface="Arial" pitchFamily="34" charset="0"/>
                <a:ea typeface="Arial" pitchFamily="34" charset="-122"/>
                <a:cs typeface="Arial" pitchFamily="34" charset="-120"/>
              </a:rPr>
              <a:t>Atelierhaus · Team 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Atelierhaus – Investoren-Pitch Team 11</dc:title>
  <dc:subject>PptxGenJS Presentation</dc:subject>
  <dc:creator>Team 11 – Startup Summer Camp 2026, Hochschule Pforzheim</dc:creator>
  <cp:lastModifiedBy>Team 11 – Startup Summer Camp 2026, Hochschule Pforzheim</cp:lastModifiedBy>
  <cp:revision>1</cp:revision>
  <dcterms:created xsi:type="dcterms:W3CDTF">2026-10-01T17:09:10Z</dcterms:created>
  <dcterms:modified xsi:type="dcterms:W3CDTF">2026-10-01T17:09:10Z</dcterms:modified>
</cp:coreProperties>
</file>